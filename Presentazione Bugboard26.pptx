
<file path=[Content_Types].xml><?xml version="1.0" encoding="utf-8"?>
<Types xmlns="http://schemas.openxmlformats.org/package/2006/content-types">
  <Default Extension="fntdata" ContentType="application/x-fontdata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0"/>
  </p:notesMasterIdLst>
  <p:sldIdLst>
    <p:sldId id="256" r:id="rId2"/>
    <p:sldId id="258" r:id="rId3"/>
    <p:sldId id="261" r:id="rId4"/>
    <p:sldId id="305" r:id="rId5"/>
    <p:sldId id="307" r:id="rId6"/>
    <p:sldId id="306" r:id="rId7"/>
    <p:sldId id="309" r:id="rId8"/>
    <p:sldId id="313" r:id="rId9"/>
    <p:sldId id="310" r:id="rId10"/>
    <p:sldId id="314" r:id="rId11"/>
    <p:sldId id="311" r:id="rId12"/>
    <p:sldId id="318" r:id="rId13"/>
    <p:sldId id="317" r:id="rId14"/>
    <p:sldId id="320" r:id="rId15"/>
    <p:sldId id="315" r:id="rId16"/>
    <p:sldId id="316" r:id="rId17"/>
    <p:sldId id="263" r:id="rId18"/>
    <p:sldId id="321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ExtraBold" panose="00000900000000000000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1633"/>
    <a:srgbClr val="2321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14EB9E-94F0-41ED-A01E-44DEBCA7945D}">
  <a:tblStyle styleId="{B814EB9E-94F0-41ED-A01E-44DEBCA794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>
          <a:extLst>
            <a:ext uri="{FF2B5EF4-FFF2-40B4-BE49-F238E27FC236}">
              <a16:creationId xmlns:a16="http://schemas.microsoft.com/office/drawing/2014/main" id="{189A5A3A-4024-CA69-E518-C3DED7CE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7f9262ee2f_0_26342:notes">
            <a:extLst>
              <a:ext uri="{FF2B5EF4-FFF2-40B4-BE49-F238E27FC236}">
                <a16:creationId xmlns:a16="http://schemas.microsoft.com/office/drawing/2014/main" id="{99975FB8-E367-3603-059F-3577199731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7f9262ee2f_0_26342:notes">
            <a:extLst>
              <a:ext uri="{FF2B5EF4-FFF2-40B4-BE49-F238E27FC236}">
                <a16:creationId xmlns:a16="http://schemas.microsoft.com/office/drawing/2014/main" id="{5F9E60AB-4FE4-C811-B3F8-635B8CA7A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6598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4192C883-6393-77FA-98B2-CB805FA7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D26D1A6B-DA23-0A25-D7E8-19D7D4447C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98944649-F43F-04AD-EC6A-7B72B8BF27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1500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04EF7996-16A1-6868-CCA4-40CAE42A0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>
            <a:extLst>
              <a:ext uri="{FF2B5EF4-FFF2-40B4-BE49-F238E27FC236}">
                <a16:creationId xmlns:a16="http://schemas.microsoft.com/office/drawing/2014/main" id="{A3C28E62-DF77-D8DA-FE8B-8B7F33F84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>
            <a:extLst>
              <a:ext uri="{FF2B5EF4-FFF2-40B4-BE49-F238E27FC236}">
                <a16:creationId xmlns:a16="http://schemas.microsoft.com/office/drawing/2014/main" id="{2E797129-52F9-FA8A-935A-9DA9088337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4403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A9009559-64FE-A73B-A7A2-E9F6513BD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>
            <a:extLst>
              <a:ext uri="{FF2B5EF4-FFF2-40B4-BE49-F238E27FC236}">
                <a16:creationId xmlns:a16="http://schemas.microsoft.com/office/drawing/2014/main" id="{BAE8FDA5-6464-22D2-F387-BE6A4F803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>
            <a:extLst>
              <a:ext uri="{FF2B5EF4-FFF2-40B4-BE49-F238E27FC236}">
                <a16:creationId xmlns:a16="http://schemas.microsoft.com/office/drawing/2014/main" id="{F12A7585-0D69-3464-45E6-872C1B7E38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241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>
          <a:extLst>
            <a:ext uri="{FF2B5EF4-FFF2-40B4-BE49-F238E27FC236}">
              <a16:creationId xmlns:a16="http://schemas.microsoft.com/office/drawing/2014/main" id="{00026F6C-7686-6115-1209-AF8A95B3B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7f9262ee2f_0_26342:notes">
            <a:extLst>
              <a:ext uri="{FF2B5EF4-FFF2-40B4-BE49-F238E27FC236}">
                <a16:creationId xmlns:a16="http://schemas.microsoft.com/office/drawing/2014/main" id="{0AB5ADC9-79C0-FBD8-8800-0B8A712AA6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7f9262ee2f_0_26342:notes">
            <a:extLst>
              <a:ext uri="{FF2B5EF4-FFF2-40B4-BE49-F238E27FC236}">
                <a16:creationId xmlns:a16="http://schemas.microsoft.com/office/drawing/2014/main" id="{54FCFEEA-646A-338C-2EDC-ED9CDD2F2D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911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75930DF2-24D7-3B8F-8514-24A12189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>
            <a:extLst>
              <a:ext uri="{FF2B5EF4-FFF2-40B4-BE49-F238E27FC236}">
                <a16:creationId xmlns:a16="http://schemas.microsoft.com/office/drawing/2014/main" id="{21795320-62BD-F289-958B-CD2467E139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>
            <a:extLst>
              <a:ext uri="{FF2B5EF4-FFF2-40B4-BE49-F238E27FC236}">
                <a16:creationId xmlns:a16="http://schemas.microsoft.com/office/drawing/2014/main" id="{453DA108-7883-A6B3-21A1-236509A10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9795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>
          <a:extLst>
            <a:ext uri="{FF2B5EF4-FFF2-40B4-BE49-F238E27FC236}">
              <a16:creationId xmlns:a16="http://schemas.microsoft.com/office/drawing/2014/main" id="{22E3D0BF-E524-85DB-D437-FC1DF8A2D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7f9262ee2f_0_26342:notes">
            <a:extLst>
              <a:ext uri="{FF2B5EF4-FFF2-40B4-BE49-F238E27FC236}">
                <a16:creationId xmlns:a16="http://schemas.microsoft.com/office/drawing/2014/main" id="{8662C922-6354-16A1-5F73-0F244FA1AD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7f9262ee2f_0_26342:notes">
            <a:extLst>
              <a:ext uri="{FF2B5EF4-FFF2-40B4-BE49-F238E27FC236}">
                <a16:creationId xmlns:a16="http://schemas.microsoft.com/office/drawing/2014/main" id="{D0B535CF-A4E1-1784-4FD8-5D038D180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0555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7E3ACB20-D3A5-70DC-2126-3B8EB3F0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>
            <a:extLst>
              <a:ext uri="{FF2B5EF4-FFF2-40B4-BE49-F238E27FC236}">
                <a16:creationId xmlns:a16="http://schemas.microsoft.com/office/drawing/2014/main" id="{6EBDCFD5-8E8F-70C8-674D-FC88A38AF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>
            <a:extLst>
              <a:ext uri="{FF2B5EF4-FFF2-40B4-BE49-F238E27FC236}">
                <a16:creationId xmlns:a16="http://schemas.microsoft.com/office/drawing/2014/main" id="{64FB845C-1797-B2DA-EFE8-50C8AF14B4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2141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>
          <a:extLst>
            <a:ext uri="{FF2B5EF4-FFF2-40B4-BE49-F238E27FC236}">
              <a16:creationId xmlns:a16="http://schemas.microsoft.com/office/drawing/2014/main" id="{86CC5B14-FF75-32A3-4DB6-88DC8D25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7f9262ee2f_0_26342:notes">
            <a:extLst>
              <a:ext uri="{FF2B5EF4-FFF2-40B4-BE49-F238E27FC236}">
                <a16:creationId xmlns:a16="http://schemas.microsoft.com/office/drawing/2014/main" id="{6C2F8EAA-2FE9-AAC9-8A60-0FB900EAF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7f9262ee2f_0_26342:notes">
            <a:extLst>
              <a:ext uri="{FF2B5EF4-FFF2-40B4-BE49-F238E27FC236}">
                <a16:creationId xmlns:a16="http://schemas.microsoft.com/office/drawing/2014/main" id="{E823F951-4792-30AC-C93B-1CA2492BF8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0273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D5B5B943-67BA-BC78-D28F-996BB0E00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B987CF0E-EA24-EE37-BC8D-3D86E394E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8FC02E81-1A9B-7B28-E9FA-964BF97B7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2780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98C9C26A-CFF7-98B4-89A3-F477A56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>
            <a:extLst>
              <a:ext uri="{FF2B5EF4-FFF2-40B4-BE49-F238E27FC236}">
                <a16:creationId xmlns:a16="http://schemas.microsoft.com/office/drawing/2014/main" id="{CA9474C3-E8BD-EA92-DDEB-F3829108F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>
            <a:extLst>
              <a:ext uri="{FF2B5EF4-FFF2-40B4-BE49-F238E27FC236}">
                <a16:creationId xmlns:a16="http://schemas.microsoft.com/office/drawing/2014/main" id="{BAE12A03-32BD-E893-8688-90992EA34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4813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A2964856-FED8-DE86-D7E2-D401E693B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BC2ADC96-402C-ED95-EC64-9A1BF49DF8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8B695C18-0DF2-DF09-1F81-54CDC5A2D9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3639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7">
          <a:extLst>
            <a:ext uri="{FF2B5EF4-FFF2-40B4-BE49-F238E27FC236}">
              <a16:creationId xmlns:a16="http://schemas.microsoft.com/office/drawing/2014/main" id="{EC48B27C-8C6B-CECE-CBFB-E29D6594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7f9262ee2f_0_26137:notes">
            <a:extLst>
              <a:ext uri="{FF2B5EF4-FFF2-40B4-BE49-F238E27FC236}">
                <a16:creationId xmlns:a16="http://schemas.microsoft.com/office/drawing/2014/main" id="{D73C003B-439D-F54F-1CD7-C03D0714A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7f9262ee2f_0_26137:notes">
            <a:extLst>
              <a:ext uri="{FF2B5EF4-FFF2-40B4-BE49-F238E27FC236}">
                <a16:creationId xmlns:a16="http://schemas.microsoft.com/office/drawing/2014/main" id="{AA19B5A8-969F-D342-BC3C-901DAA99B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967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E7F274ED-5613-58C8-7398-D31E48896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93EC2E27-B31C-A838-AC3D-1C8121BA8A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80B448D7-D575-6FFF-E9C7-B3FEF746B5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1808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ubTitle" idx="1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 idx="2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3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5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6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2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title" idx="3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title" idx="4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>
            <a:spLocks noGrp="1"/>
          </p:cNvSpPr>
          <p:nvPr>
            <p:ph type="title" hasCustomPrompt="1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>
            <a:spLocks noGrp="1"/>
          </p:cNvSpPr>
          <p:nvPr>
            <p:ph type="subTitle" idx="1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title" idx="2" hasCustomPrompt="1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6"/>
          <p:cNvSpPr txBox="1">
            <a:spLocks noGrp="1"/>
          </p:cNvSpPr>
          <p:nvPr>
            <p:ph type="subTitle" idx="3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title" idx="4" hasCustomPrompt="1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>
            <a:spLocks noGrp="1"/>
          </p:cNvSpPr>
          <p:nvPr>
            <p:ph type="subTitle" idx="5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8" r:id="rId4"/>
    <p:sldLayoutId id="2147483660" r:id="rId5"/>
    <p:sldLayoutId id="2147483663" r:id="rId6"/>
    <p:sldLayoutId id="2147483664" r:id="rId7"/>
    <p:sldLayoutId id="2147483670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org&amp;utm_campaign=index&amp;utm_content=thumbnai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3655821" y="694572"/>
            <a:ext cx="1832356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Bugboard</a:t>
            </a:r>
            <a:endParaRPr sz="2400"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2791311" y="3666809"/>
            <a:ext cx="3561375" cy="4165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Progetto di Ingegneria del Software</a:t>
            </a:r>
          </a:p>
          <a:p>
            <a:endParaRPr lang="it-IT"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044892" y="2847870"/>
            <a:ext cx="4884234" cy="703276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42900" defTabSz="914400" eaLnBrk="1" fontAlgn="auto" latinLnBrk="0" hangingPunct="1">
              <a:buClr>
                <a:schemeClr val="accent1"/>
              </a:buClr>
              <a:buSzPts val="1400"/>
              <a:tabLst/>
              <a:defRPr/>
            </a:pPr>
            <a:r>
              <a:rPr lang="it-IT" sz="1600" dirty="0">
                <a:solidFill>
                  <a:schemeClr val="accent1"/>
                </a:solidFill>
                <a:latin typeface="Montserrat"/>
                <a:sym typeface="Montserrat"/>
              </a:rPr>
              <a:t>Piattaforma per la gestione collaborativa di issue in progetti software</a:t>
            </a: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9798E1D1-3192-3F3F-2F09-FA99074F7B5B}"/>
              </a:ext>
            </a:extLst>
          </p:cNvPr>
          <p:cNvGrpSpPr/>
          <p:nvPr/>
        </p:nvGrpSpPr>
        <p:grpSpPr>
          <a:xfrm>
            <a:off x="3190500" y="223305"/>
            <a:ext cx="2763000" cy="2490162"/>
            <a:chOff x="3190500" y="245605"/>
            <a:chExt cx="2763000" cy="2490162"/>
          </a:xfrm>
        </p:grpSpPr>
        <p:cxnSp>
          <p:nvCxnSpPr>
            <p:cNvPr id="165" name="Google Shape;165;p38"/>
            <p:cNvCxnSpPr>
              <a:cxnSpLocks/>
            </p:cNvCxnSpPr>
            <p:nvPr/>
          </p:nvCxnSpPr>
          <p:spPr>
            <a:xfrm>
              <a:off x="3567969" y="1544094"/>
              <a:ext cx="200806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19050" dir="5400000" algn="bl" rotWithShape="0">
                <a:srgbClr val="FFFFFF">
                  <a:alpha val="50000"/>
                </a:srgbClr>
              </a:outerShdw>
            </a:effectLst>
          </p:spPr>
        </p:cxnSp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EF48FA70-1C0A-4BC3-A169-DAE924517426}"/>
                </a:ext>
              </a:extLst>
            </p:cNvPr>
            <p:cNvGrpSpPr/>
            <p:nvPr/>
          </p:nvGrpSpPr>
          <p:grpSpPr>
            <a:xfrm>
              <a:off x="3190500" y="245605"/>
              <a:ext cx="2763000" cy="2490162"/>
              <a:chOff x="3190500" y="245605"/>
              <a:chExt cx="2763000" cy="2490162"/>
            </a:xfrm>
          </p:grpSpPr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45C7AA6-1C1B-58A4-577F-889FF04D98D6}"/>
                  </a:ext>
                </a:extLst>
              </p:cNvPr>
              <p:cNvSpPr txBox="1"/>
              <p:nvPr/>
            </p:nvSpPr>
            <p:spPr>
              <a:xfrm>
                <a:off x="4193457" y="1695175"/>
                <a:ext cx="7570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Clr>
                    <a:schemeClr val="lt1"/>
                  </a:buClr>
                  <a:buSzPts val="3600"/>
                </a:pPr>
                <a:r>
                  <a:rPr lang="it-IT" sz="2800" b="1" dirty="0">
                    <a:solidFill>
                      <a:schemeClr val="lt1"/>
                    </a:solidFill>
                    <a:latin typeface="Montserrat ExtraBold"/>
                    <a:sym typeface="Montserrat ExtraBold"/>
                  </a:rPr>
                  <a:t>26</a:t>
                </a:r>
              </a:p>
            </p:txBody>
          </p:sp>
          <p:grpSp>
            <p:nvGrpSpPr>
              <p:cNvPr id="10" name="Gruppo 9">
                <a:extLst>
                  <a:ext uri="{FF2B5EF4-FFF2-40B4-BE49-F238E27FC236}">
                    <a16:creationId xmlns:a16="http://schemas.microsoft.com/office/drawing/2014/main" id="{018AD623-49E6-2515-4279-C785B3A27F16}"/>
                  </a:ext>
                </a:extLst>
              </p:cNvPr>
              <p:cNvGrpSpPr/>
              <p:nvPr/>
            </p:nvGrpSpPr>
            <p:grpSpPr>
              <a:xfrm>
                <a:off x="3190500" y="245605"/>
                <a:ext cx="2763000" cy="2490162"/>
                <a:chOff x="3190500" y="245605"/>
                <a:chExt cx="2763000" cy="2490162"/>
              </a:xfrm>
            </p:grpSpPr>
            <p:sp>
              <p:nvSpPr>
                <p:cNvPr id="3" name="Ovale 2">
                  <a:extLst>
                    <a:ext uri="{FF2B5EF4-FFF2-40B4-BE49-F238E27FC236}">
                      <a16:creationId xmlns:a16="http://schemas.microsoft.com/office/drawing/2014/main" id="{F1784F80-000C-D525-E810-DF6905C17E76}"/>
                    </a:ext>
                  </a:extLst>
                </p:cNvPr>
                <p:cNvSpPr/>
                <p:nvPr/>
              </p:nvSpPr>
              <p:spPr>
                <a:xfrm>
                  <a:off x="3190500" y="245605"/>
                  <a:ext cx="2763000" cy="2490162"/>
                </a:xfrm>
                <a:prstGeom prst="ellipse">
                  <a:avLst/>
                </a:prstGeom>
                <a:noFill/>
                <a:ln>
                  <a:solidFill>
                    <a:srgbClr val="6A4BD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  <p:pic>
              <p:nvPicPr>
                <p:cNvPr id="7" name="Elemento grafico 6" descr="Coccinella contorno">
                  <a:extLst>
                    <a:ext uri="{FF2B5EF4-FFF2-40B4-BE49-F238E27FC236}">
                      <a16:creationId xmlns:a16="http://schemas.microsoft.com/office/drawing/2014/main" id="{922AC31A-974C-8F94-A86F-49A35F1EF4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90500" y="335946"/>
                  <a:ext cx="612935" cy="612935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5" name="Google Shape;163;p38">
            <a:extLst>
              <a:ext uri="{FF2B5EF4-FFF2-40B4-BE49-F238E27FC236}">
                <a16:creationId xmlns:a16="http://schemas.microsoft.com/office/drawing/2014/main" id="{43632781-8E3A-B50F-C860-0C612D717D0C}"/>
              </a:ext>
            </a:extLst>
          </p:cNvPr>
          <p:cNvSpPr txBox="1">
            <a:spLocks/>
          </p:cNvSpPr>
          <p:nvPr/>
        </p:nvSpPr>
        <p:spPr>
          <a:xfrm>
            <a:off x="3020519" y="4011956"/>
            <a:ext cx="2932981" cy="41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it-IT" dirty="0">
                <a:solidFill>
                  <a:schemeClr val="bg1"/>
                </a:solidFill>
              </a:rPr>
              <a:t>Anno accademico 2025/2026</a:t>
            </a:r>
          </a:p>
          <a:p>
            <a:endParaRPr lang="it-IT" dirty="0"/>
          </a:p>
        </p:txBody>
      </p:sp>
      <p:sp>
        <p:nvSpPr>
          <p:cNvPr id="17" name="Google Shape;163;p38">
            <a:extLst>
              <a:ext uri="{FF2B5EF4-FFF2-40B4-BE49-F238E27FC236}">
                <a16:creationId xmlns:a16="http://schemas.microsoft.com/office/drawing/2014/main" id="{CCFE9165-CB58-95DD-1FC8-4C0B8DD11041}"/>
              </a:ext>
            </a:extLst>
          </p:cNvPr>
          <p:cNvSpPr txBox="1">
            <a:spLocks/>
          </p:cNvSpPr>
          <p:nvPr/>
        </p:nvSpPr>
        <p:spPr>
          <a:xfrm>
            <a:off x="6182706" y="4465506"/>
            <a:ext cx="2961294" cy="41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it-IT" dirty="0">
                <a:solidFill>
                  <a:schemeClr val="bg1"/>
                </a:solidFill>
              </a:rPr>
              <a:t>Luca Santangelo N86002450</a:t>
            </a:r>
          </a:p>
          <a:p>
            <a:r>
              <a:rPr lang="it-IT" dirty="0">
                <a:solidFill>
                  <a:schemeClr val="bg1"/>
                </a:solidFill>
              </a:rPr>
              <a:t>Manuel Montuori N86001690</a:t>
            </a:r>
          </a:p>
          <a:p>
            <a:endParaRPr lang="it-IT" dirty="0"/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8BBA459F-A1A2-A104-04C3-21E866815EF6}"/>
              </a:ext>
            </a:extLst>
          </p:cNvPr>
          <p:cNvGrpSpPr/>
          <p:nvPr/>
        </p:nvGrpSpPr>
        <p:grpSpPr>
          <a:xfrm>
            <a:off x="2708041" y="4338342"/>
            <a:ext cx="3360062" cy="670901"/>
            <a:chOff x="3037416" y="4413280"/>
            <a:chExt cx="3360062" cy="670901"/>
          </a:xfrm>
        </p:grpSpPr>
        <p:sp>
          <p:nvSpPr>
            <p:cNvPr id="19" name="Google Shape;163;p38">
              <a:extLst>
                <a:ext uri="{FF2B5EF4-FFF2-40B4-BE49-F238E27FC236}">
                  <a16:creationId xmlns:a16="http://schemas.microsoft.com/office/drawing/2014/main" id="{93A72DC3-71DC-438E-359A-4E128F78F470}"/>
                </a:ext>
              </a:extLst>
            </p:cNvPr>
            <p:cNvSpPr txBox="1">
              <a:spLocks/>
            </p:cNvSpPr>
            <p:nvPr/>
          </p:nvSpPr>
          <p:spPr>
            <a:xfrm>
              <a:off x="3037416" y="4413280"/>
              <a:ext cx="1046437" cy="4165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400"/>
                <a:buFont typeface="Montserrat"/>
                <a:buNone/>
                <a:defRPr sz="1400" b="0" i="0" u="none" strike="noStrike" cap="none">
                  <a:solidFill>
                    <a:schemeClr val="accen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r>
                <a:rPr lang="it-IT" dirty="0">
                  <a:solidFill>
                    <a:schemeClr val="bg1"/>
                  </a:solidFill>
                </a:rPr>
                <a:t>Docenti:</a:t>
              </a:r>
            </a:p>
          </p:txBody>
        </p:sp>
        <p:sp>
          <p:nvSpPr>
            <p:cNvPr id="21" name="Google Shape;163;p38">
              <a:extLst>
                <a:ext uri="{FF2B5EF4-FFF2-40B4-BE49-F238E27FC236}">
                  <a16:creationId xmlns:a16="http://schemas.microsoft.com/office/drawing/2014/main" id="{1EF8FFCB-A80F-DAF4-3F6F-20069D8E1CAE}"/>
                </a:ext>
              </a:extLst>
            </p:cNvPr>
            <p:cNvSpPr txBox="1">
              <a:spLocks/>
            </p:cNvSpPr>
            <p:nvPr/>
          </p:nvSpPr>
          <p:spPr>
            <a:xfrm>
              <a:off x="3846195" y="4421205"/>
              <a:ext cx="2551283" cy="4165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400"/>
                <a:buFont typeface="Montserrat"/>
                <a:buNone/>
                <a:defRPr sz="1400" b="0" i="0" u="none" strike="noStrike" cap="none">
                  <a:solidFill>
                    <a:schemeClr val="accen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r>
                <a:rPr lang="it-IT" dirty="0">
                  <a:solidFill>
                    <a:schemeClr val="bg1"/>
                  </a:solidFill>
                </a:rPr>
                <a:t>Prof. Porfirio Tramontana </a:t>
              </a:r>
            </a:p>
          </p:txBody>
        </p:sp>
        <p:sp>
          <p:nvSpPr>
            <p:cNvPr id="23" name="Google Shape;163;p38">
              <a:extLst>
                <a:ext uri="{FF2B5EF4-FFF2-40B4-BE49-F238E27FC236}">
                  <a16:creationId xmlns:a16="http://schemas.microsoft.com/office/drawing/2014/main" id="{ACB14363-072E-F264-EEC6-92483AE8A323}"/>
                </a:ext>
              </a:extLst>
            </p:cNvPr>
            <p:cNvSpPr txBox="1">
              <a:spLocks/>
            </p:cNvSpPr>
            <p:nvPr/>
          </p:nvSpPr>
          <p:spPr>
            <a:xfrm>
              <a:off x="3655821" y="4667607"/>
              <a:ext cx="2551283" cy="4165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400"/>
                <a:buFont typeface="Montserrat"/>
                <a:buNone/>
                <a:defRPr sz="1400" b="0" i="0" u="none" strike="noStrike" cap="none">
                  <a:solidFill>
                    <a:schemeClr val="accen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ontserrat"/>
                <a:buNone/>
                <a:defRPr sz="18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r>
                <a:rPr lang="it-IT" dirty="0">
                  <a:solidFill>
                    <a:schemeClr val="bg1"/>
                  </a:solidFill>
                </a:rPr>
                <a:t>Prof. Bernardo Breve</a:t>
              </a:r>
            </a:p>
          </p:txBody>
        </p:sp>
      </p:grpSp>
      <p:pic>
        <p:nvPicPr>
          <p:cNvPr id="27" name="Immagine 26" descr="File:University Federico II Logo.svg - Wikipedia">
            <a:extLst>
              <a:ext uri="{FF2B5EF4-FFF2-40B4-BE49-F238E27FC236}">
                <a16:creationId xmlns:a16="http://schemas.microsoft.com/office/drawing/2014/main" id="{BDBD92ED-5B3C-C842-16A3-90FA5BAE56B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68580" y="64673"/>
            <a:ext cx="1280160" cy="1279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3538497" y="2822314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 DEL SISTEMA</a:t>
            </a:r>
            <a:endParaRPr dirty="0"/>
          </a:p>
        </p:txBody>
      </p:sp>
      <p:sp>
        <p:nvSpPr>
          <p:cNvPr id="180" name="Google Shape;180;p40"/>
          <p:cNvSpPr txBox="1">
            <a:spLocks noGrp="1"/>
          </p:cNvSpPr>
          <p:nvPr>
            <p:ph type="subTitle" idx="1"/>
          </p:nvPr>
        </p:nvSpPr>
        <p:spPr>
          <a:xfrm>
            <a:off x="3538497" y="3370714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Presentazione dell’architettura del sistema</a:t>
            </a:r>
            <a:endParaRPr dirty="0"/>
          </a:p>
        </p:txBody>
      </p:sp>
      <p:sp>
        <p:nvSpPr>
          <p:cNvPr id="181" name="Google Shape;181;p40"/>
          <p:cNvSpPr txBox="1">
            <a:spLocks noGrp="1"/>
          </p:cNvSpPr>
          <p:nvPr>
            <p:ph type="title" idx="2"/>
          </p:nvPr>
        </p:nvSpPr>
        <p:spPr>
          <a:xfrm>
            <a:off x="6028547" y="2770753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ATTIVITA DI TESTING</a:t>
            </a:r>
            <a:endParaRPr dirty="0"/>
          </a:p>
        </p:txBody>
      </p:sp>
      <p:sp>
        <p:nvSpPr>
          <p:cNvPr id="182" name="Google Shape;182;p40"/>
          <p:cNvSpPr txBox="1">
            <a:spLocks noGrp="1"/>
          </p:cNvSpPr>
          <p:nvPr>
            <p:ph type="subTitle" idx="3"/>
          </p:nvPr>
        </p:nvSpPr>
        <p:spPr>
          <a:xfrm>
            <a:off x="6028547" y="3370714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Presentazione degli Unit Test eseguiti</a:t>
            </a:r>
            <a:endParaRPr dirty="0"/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REQUISITI</a:t>
            </a:r>
            <a:endParaRPr dirty="0"/>
          </a:p>
        </p:txBody>
      </p:sp>
      <p:sp>
        <p:nvSpPr>
          <p:cNvPr id="184" name="Google Shape;184;p40"/>
          <p:cNvSpPr txBox="1">
            <a:spLocks noGrp="1"/>
          </p:cNvSpPr>
          <p:nvPr>
            <p:ph type="subTitle" idx="5"/>
          </p:nvPr>
        </p:nvSpPr>
        <p:spPr>
          <a:xfrm>
            <a:off x="1048447" y="3370714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Presentazione delle funzionalità e sfide tecniche</a:t>
            </a:r>
            <a:endParaRPr dirty="0"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87" name="Google Shape;187;p40"/>
          <p:cNvCxnSpPr/>
          <p:nvPr/>
        </p:nvCxnSpPr>
        <p:spPr>
          <a:xfrm>
            <a:off x="18833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437340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68634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REQUISITI</a:t>
            </a: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8" name="Google Shape;208;p4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Presentazione delle funzionalità e delle sfide tecniche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>
          <a:extLst>
            <a:ext uri="{FF2B5EF4-FFF2-40B4-BE49-F238E27FC236}">
              <a16:creationId xmlns:a16="http://schemas.microsoft.com/office/drawing/2014/main" id="{075E9C54-7D29-27A3-2072-1258C1EAB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57">
            <a:extLst>
              <a:ext uri="{FF2B5EF4-FFF2-40B4-BE49-F238E27FC236}">
                <a16:creationId xmlns:a16="http://schemas.microsoft.com/office/drawing/2014/main" id="{566AB04C-295E-6400-C82B-6AAFD06CA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Requisiti e sfide tecniche</a:t>
            </a:r>
            <a:endParaRPr dirty="0"/>
          </a:p>
        </p:txBody>
      </p:sp>
      <p:sp>
        <p:nvSpPr>
          <p:cNvPr id="1994" name="Google Shape;1994;p57">
            <a:extLst>
              <a:ext uri="{FF2B5EF4-FFF2-40B4-BE49-F238E27FC236}">
                <a16:creationId xmlns:a16="http://schemas.microsoft.com/office/drawing/2014/main" id="{7C29B7C7-D9EB-3478-1766-E3C5497C2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8879" y="1784234"/>
            <a:ext cx="4163121" cy="3181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 sz="1200" b="1" dirty="0"/>
              <a:t>RF01:</a:t>
            </a:r>
            <a:r>
              <a:rPr lang="it-IT" sz="1200" dirty="0"/>
              <a:t> Autenticazione e gestione utenti</a:t>
            </a:r>
            <a:endParaRPr sz="1200" dirty="0"/>
          </a:p>
          <a:p>
            <a:pPr marL="457200" lvl="0" indent="-317500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-IT" sz="1200" b="1" dirty="0"/>
              <a:t>RF02: </a:t>
            </a:r>
            <a:r>
              <a:rPr lang="it-IT" sz="1200" dirty="0"/>
              <a:t>Segnalazione issue</a:t>
            </a:r>
            <a:endParaRPr lang="it-IT" sz="1200" b="1" dirty="0"/>
          </a:p>
          <a:p>
            <a:pPr marL="457200" lvl="0" indent="-317500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200" b="1" dirty="0"/>
              <a:t>RF03: </a:t>
            </a:r>
            <a:r>
              <a:rPr lang="en" sz="1200" dirty="0"/>
              <a:t>Assegnazione issue</a:t>
            </a:r>
          </a:p>
          <a:p>
            <a:pPr marL="457200" lvl="0" indent="-317500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200" b="1" dirty="0"/>
              <a:t>RF04: </a:t>
            </a:r>
            <a:r>
              <a:rPr lang="en" sz="1200" dirty="0"/>
              <a:t>Visualizzazione issue</a:t>
            </a:r>
          </a:p>
          <a:p>
            <a:pPr marL="457200" lvl="0" indent="-317500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200" b="1" dirty="0"/>
              <a:t>RF05: </a:t>
            </a:r>
            <a:r>
              <a:rPr lang="en" sz="1200" dirty="0"/>
              <a:t>Visualizzazione statistiche e report utenti</a:t>
            </a:r>
          </a:p>
          <a:p>
            <a:pPr marL="457200" lvl="0" indent="-317500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200" b="1" dirty="0"/>
              <a:t>RF06: </a:t>
            </a:r>
            <a:r>
              <a:rPr lang="en" sz="1200" dirty="0"/>
              <a:t>Ricerca issue per parole chiave</a:t>
            </a:r>
          </a:p>
          <a:p>
            <a:pPr marL="457200" lvl="0" indent="-317500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sz="1200" b="1" dirty="0"/>
              <a:t>RF07:</a:t>
            </a:r>
            <a:r>
              <a:rPr lang="en" sz="1200" dirty="0"/>
              <a:t> Suggerimento utente per carico di lavoro</a:t>
            </a:r>
            <a:endParaRPr sz="1200" dirty="0"/>
          </a:p>
        </p:txBody>
      </p:sp>
      <p:sp>
        <p:nvSpPr>
          <p:cNvPr id="1995" name="Google Shape;1995;p57">
            <a:extLst>
              <a:ext uri="{FF2B5EF4-FFF2-40B4-BE49-F238E27FC236}">
                <a16:creationId xmlns:a16="http://schemas.microsoft.com/office/drawing/2014/main" id="{59B4B49D-3B8F-AEA2-1785-A1C0A128760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 dirty="0"/>
              <a:t>Corretta separazione delle responsabilità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-IT" dirty="0"/>
              <a:t>Architettura Client-Server scalabile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dirty="0"/>
              <a:t>Integrazione servizi esterni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dirty="0"/>
              <a:t>Notifiche </a:t>
            </a:r>
            <a:r>
              <a:rPr lang="en" i="1" dirty="0"/>
              <a:t>real-time</a:t>
            </a:r>
            <a:endParaRPr i="1" dirty="0"/>
          </a:p>
        </p:txBody>
      </p:sp>
      <p:sp>
        <p:nvSpPr>
          <p:cNvPr id="1996" name="Google Shape;1996;p57">
            <a:extLst>
              <a:ext uri="{FF2B5EF4-FFF2-40B4-BE49-F238E27FC236}">
                <a16:creationId xmlns:a16="http://schemas.microsoft.com/office/drawing/2014/main" id="{AA582A85-D4A7-71FE-F589-352E00033925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613758" y="1196500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FUNZIONALITA ASSEGNATE</a:t>
            </a:r>
            <a:endParaRPr sz="1600" dirty="0"/>
          </a:p>
        </p:txBody>
      </p:sp>
      <p:sp>
        <p:nvSpPr>
          <p:cNvPr id="1997" name="Google Shape;1997;p57">
            <a:extLst>
              <a:ext uri="{FF2B5EF4-FFF2-40B4-BE49-F238E27FC236}">
                <a16:creationId xmlns:a16="http://schemas.microsoft.com/office/drawing/2014/main" id="{EC8B67F7-993C-75E0-27A5-B3599939596C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SFIDE PRINCIPALI</a:t>
            </a:r>
            <a:endParaRPr dirty="0"/>
          </a:p>
        </p:txBody>
      </p:sp>
      <p:cxnSp>
        <p:nvCxnSpPr>
          <p:cNvPr id="1998" name="Google Shape;1998;p57">
            <a:extLst>
              <a:ext uri="{FF2B5EF4-FFF2-40B4-BE49-F238E27FC236}">
                <a16:creationId xmlns:a16="http://schemas.microsoft.com/office/drawing/2014/main" id="{8939E001-7F04-C2BA-5A3F-E4260F215C6B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385023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ECB85577-9F12-4385-5CD6-3907A675D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02170CEC-5F44-1DD0-58B4-DBEA4B6945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3000" y="3110843"/>
            <a:ext cx="5463103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 DEL SISTEMA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519B1A20-6D22-649F-5AA5-FE9742C4B40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8601" y="3220593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08" name="Google Shape;208;p43">
            <a:extLst>
              <a:ext uri="{FF2B5EF4-FFF2-40B4-BE49-F238E27FC236}">
                <a16:creationId xmlns:a16="http://schemas.microsoft.com/office/drawing/2014/main" id="{82605117-D792-1F76-3EC3-C759FFCB7ED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43001" y="3653743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Presentazione delle scelte di design del sistema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02C5333A-07FD-86AD-164B-719107CFD1E3}"/>
              </a:ext>
            </a:extLst>
          </p:cNvPr>
          <p:cNvCxnSpPr/>
          <p:nvPr/>
        </p:nvCxnSpPr>
        <p:spPr>
          <a:xfrm>
            <a:off x="3291081" y="3186390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58741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54AD0600-CF90-483A-E9D6-4A52387C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>
            <a:extLst>
              <a:ext uri="{FF2B5EF4-FFF2-40B4-BE49-F238E27FC236}">
                <a16:creationId xmlns:a16="http://schemas.microsoft.com/office/drawing/2014/main" id="{2F7FEF11-CF2C-6E56-8E9A-2CAB44A70C76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Architettura Client-Server</a:t>
            </a:r>
            <a:endParaRPr dirty="0"/>
          </a:p>
        </p:txBody>
      </p:sp>
      <p:cxnSp>
        <p:nvCxnSpPr>
          <p:cNvPr id="234" name="Google Shape;234;p46">
            <a:extLst>
              <a:ext uri="{FF2B5EF4-FFF2-40B4-BE49-F238E27FC236}">
                <a16:creationId xmlns:a16="http://schemas.microsoft.com/office/drawing/2014/main" id="{01979A03-6EB4-757E-6259-6FB13D089487}"/>
              </a:ext>
            </a:extLst>
          </p:cNvPr>
          <p:cNvCxnSpPr>
            <a:cxnSpLocks/>
          </p:cNvCxnSpPr>
          <p:nvPr/>
        </p:nvCxnSpPr>
        <p:spPr>
          <a:xfrm>
            <a:off x="1026200" y="414022"/>
            <a:ext cx="266113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35" name="Google Shape;235;p46">
            <a:extLst>
              <a:ext uri="{FF2B5EF4-FFF2-40B4-BE49-F238E27FC236}">
                <a16:creationId xmlns:a16="http://schemas.microsoft.com/office/drawing/2014/main" id="{7A1714C0-2B92-9AF7-DEA6-4DE014B769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66442" y="2897573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SERVER</a:t>
            </a:r>
            <a:endParaRPr dirty="0"/>
          </a:p>
        </p:txBody>
      </p:sp>
      <p:sp>
        <p:nvSpPr>
          <p:cNvPr id="236" name="Google Shape;236;p46">
            <a:extLst>
              <a:ext uri="{FF2B5EF4-FFF2-40B4-BE49-F238E27FC236}">
                <a16:creationId xmlns:a16="http://schemas.microsoft.com/office/drawing/2014/main" id="{571F3C19-CF66-F29D-FFD3-7EB3A1C986E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66442" y="3582473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Logic Layer (backend)</a:t>
            </a:r>
            <a:endParaRPr dirty="0"/>
          </a:p>
        </p:txBody>
      </p:sp>
      <p:sp>
        <p:nvSpPr>
          <p:cNvPr id="237" name="Google Shape;237;p46">
            <a:extLst>
              <a:ext uri="{FF2B5EF4-FFF2-40B4-BE49-F238E27FC236}">
                <a16:creationId xmlns:a16="http://schemas.microsoft.com/office/drawing/2014/main" id="{2F44FD7C-BCD6-ABEC-BA3E-F9F0F84C399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156498" y="2897573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PERSISTENZA</a:t>
            </a:r>
            <a:endParaRPr dirty="0"/>
          </a:p>
        </p:txBody>
      </p:sp>
      <p:sp>
        <p:nvSpPr>
          <p:cNvPr id="238" name="Google Shape;238;p46">
            <a:extLst>
              <a:ext uri="{FF2B5EF4-FFF2-40B4-BE49-F238E27FC236}">
                <a16:creationId xmlns:a16="http://schemas.microsoft.com/office/drawing/2014/main" id="{7917B99E-121F-27D6-F936-27B3ADE1BA5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156498" y="3582473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Layer (DBMS)</a:t>
            </a:r>
            <a:endParaRPr dirty="0"/>
          </a:p>
        </p:txBody>
      </p:sp>
      <p:sp>
        <p:nvSpPr>
          <p:cNvPr id="239" name="Google Shape;239;p46">
            <a:extLst>
              <a:ext uri="{FF2B5EF4-FFF2-40B4-BE49-F238E27FC236}">
                <a16:creationId xmlns:a16="http://schemas.microsoft.com/office/drawing/2014/main" id="{CC05B6BA-9CCE-05A8-1DF7-B78DE16CA1D0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176392" y="2897573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CLIENT</a:t>
            </a:r>
            <a:endParaRPr dirty="0"/>
          </a:p>
        </p:txBody>
      </p:sp>
      <p:sp>
        <p:nvSpPr>
          <p:cNvPr id="240" name="Google Shape;240;p46">
            <a:extLst>
              <a:ext uri="{FF2B5EF4-FFF2-40B4-BE49-F238E27FC236}">
                <a16:creationId xmlns:a16="http://schemas.microsoft.com/office/drawing/2014/main" id="{C265CC32-74E1-F098-E320-6D57A5E888B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176392" y="3582473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Presentation Layer (frontend)</a:t>
            </a:r>
            <a:endParaRPr dirty="0"/>
          </a:p>
        </p:txBody>
      </p:sp>
      <p:cxnSp>
        <p:nvCxnSpPr>
          <p:cNvPr id="241" name="Google Shape;241;p46">
            <a:extLst>
              <a:ext uri="{FF2B5EF4-FFF2-40B4-BE49-F238E27FC236}">
                <a16:creationId xmlns:a16="http://schemas.microsoft.com/office/drawing/2014/main" id="{9A96E917-4602-7385-21F4-516CB407FC83}"/>
              </a:ext>
            </a:extLst>
          </p:cNvPr>
          <p:cNvCxnSpPr/>
          <p:nvPr/>
        </p:nvCxnSpPr>
        <p:spPr>
          <a:xfrm>
            <a:off x="4564042" y="3518496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2" name="Google Shape;242;p46">
            <a:extLst>
              <a:ext uri="{FF2B5EF4-FFF2-40B4-BE49-F238E27FC236}">
                <a16:creationId xmlns:a16="http://schemas.microsoft.com/office/drawing/2014/main" id="{9618702D-801B-D1B8-398D-948326732134}"/>
              </a:ext>
            </a:extLst>
          </p:cNvPr>
          <p:cNvCxnSpPr/>
          <p:nvPr/>
        </p:nvCxnSpPr>
        <p:spPr>
          <a:xfrm>
            <a:off x="7054095" y="3518496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3" name="Google Shape;243;p46">
            <a:extLst>
              <a:ext uri="{FF2B5EF4-FFF2-40B4-BE49-F238E27FC236}">
                <a16:creationId xmlns:a16="http://schemas.microsoft.com/office/drawing/2014/main" id="{80E036E1-B6D9-95D4-9CD6-9DF657BA09D4}"/>
              </a:ext>
            </a:extLst>
          </p:cNvPr>
          <p:cNvCxnSpPr/>
          <p:nvPr/>
        </p:nvCxnSpPr>
        <p:spPr>
          <a:xfrm>
            <a:off x="2073995" y="3518496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44" name="Google Shape;244;p46">
            <a:extLst>
              <a:ext uri="{FF2B5EF4-FFF2-40B4-BE49-F238E27FC236}">
                <a16:creationId xmlns:a16="http://schemas.microsoft.com/office/drawing/2014/main" id="{A26ADE3D-FB69-8F33-BAED-869DBEB496EE}"/>
              </a:ext>
            </a:extLst>
          </p:cNvPr>
          <p:cNvSpPr/>
          <p:nvPr/>
        </p:nvSpPr>
        <p:spPr>
          <a:xfrm>
            <a:off x="1867595" y="2016748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245;p46">
            <a:extLst>
              <a:ext uri="{FF2B5EF4-FFF2-40B4-BE49-F238E27FC236}">
                <a16:creationId xmlns:a16="http://schemas.microsoft.com/office/drawing/2014/main" id="{0A5383AA-7320-9160-D97E-A3B9F03A1ECA}"/>
              </a:ext>
            </a:extLst>
          </p:cNvPr>
          <p:cNvSpPr/>
          <p:nvPr/>
        </p:nvSpPr>
        <p:spPr>
          <a:xfrm>
            <a:off x="4357642" y="2016748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6" name="Google Shape;246;p46">
            <a:extLst>
              <a:ext uri="{FF2B5EF4-FFF2-40B4-BE49-F238E27FC236}">
                <a16:creationId xmlns:a16="http://schemas.microsoft.com/office/drawing/2014/main" id="{8158E467-FE7B-9914-18FB-CDBD221E874C}"/>
              </a:ext>
            </a:extLst>
          </p:cNvPr>
          <p:cNvSpPr/>
          <p:nvPr/>
        </p:nvSpPr>
        <p:spPr>
          <a:xfrm>
            <a:off x="6847695" y="2016748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Elemento grafico 6" descr="Monitor con riempimento a tinta unita">
            <a:extLst>
              <a:ext uri="{FF2B5EF4-FFF2-40B4-BE49-F238E27FC236}">
                <a16:creationId xmlns:a16="http://schemas.microsoft.com/office/drawing/2014/main" id="{D6CA9CFA-08AA-F4F7-5827-BCE8EDA8D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9704" y="2117261"/>
            <a:ext cx="501429" cy="501429"/>
          </a:xfrm>
          <a:prstGeom prst="rect">
            <a:avLst/>
          </a:prstGeom>
        </p:spPr>
      </p:pic>
      <p:pic>
        <p:nvPicPr>
          <p:cNvPr id="9" name="Elemento grafico 8" descr="Database con riempimento a tinta unita">
            <a:extLst>
              <a:ext uri="{FF2B5EF4-FFF2-40B4-BE49-F238E27FC236}">
                <a16:creationId xmlns:a16="http://schemas.microsoft.com/office/drawing/2014/main" id="{042696B1-9D46-231C-A8EB-679ED5F2A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4183" y="2160126"/>
            <a:ext cx="411624" cy="411624"/>
          </a:xfrm>
          <a:prstGeom prst="rect">
            <a:avLst/>
          </a:prstGeom>
        </p:spPr>
      </p:pic>
      <p:pic>
        <p:nvPicPr>
          <p:cNvPr id="11" name="Elemento grafico 10" descr="Server con riempimento a tinta unita">
            <a:extLst>
              <a:ext uri="{FF2B5EF4-FFF2-40B4-BE49-F238E27FC236}">
                <a16:creationId xmlns:a16="http://schemas.microsoft.com/office/drawing/2014/main" id="{E41202D6-9C18-4841-0174-1A65815AA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8481" y="2134478"/>
            <a:ext cx="462921" cy="462921"/>
          </a:xfrm>
          <a:prstGeom prst="rect">
            <a:avLst/>
          </a:prstGeom>
        </p:spPr>
      </p:pic>
      <p:sp>
        <p:nvSpPr>
          <p:cNvPr id="12" name="Google Shape;240;p46">
            <a:extLst>
              <a:ext uri="{FF2B5EF4-FFF2-40B4-BE49-F238E27FC236}">
                <a16:creationId xmlns:a16="http://schemas.microsoft.com/office/drawing/2014/main" id="{40F54210-04D6-D7B0-AAF6-BB88A37BBAAE}"/>
              </a:ext>
            </a:extLst>
          </p:cNvPr>
          <p:cNvSpPr txBox="1">
            <a:spLocks/>
          </p:cNvSpPr>
          <p:nvPr/>
        </p:nvSpPr>
        <p:spPr>
          <a:xfrm>
            <a:off x="714692" y="1084037"/>
            <a:ext cx="4764274" cy="476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dirty="0" err="1"/>
              <a:t>Architettura</a:t>
            </a:r>
            <a:r>
              <a:rPr lang="en-US" dirty="0"/>
              <a:t> </a:t>
            </a:r>
            <a:r>
              <a:rPr lang="en-US" b="1" dirty="0"/>
              <a:t>Clint-Server</a:t>
            </a:r>
            <a:r>
              <a:rPr lang="en-US" dirty="0"/>
              <a:t> </a:t>
            </a:r>
            <a:r>
              <a:rPr lang="en-US" dirty="0" err="1"/>
              <a:t>organizzata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livelli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comunicano</a:t>
            </a:r>
            <a:r>
              <a:rPr lang="en-US" dirty="0"/>
              <a:t> </a:t>
            </a:r>
            <a:r>
              <a:rPr lang="en-US" dirty="0" err="1"/>
              <a:t>tramite</a:t>
            </a:r>
            <a:r>
              <a:rPr lang="en-US" dirty="0"/>
              <a:t> </a:t>
            </a:r>
            <a:r>
              <a:rPr lang="en-US" b="1" dirty="0"/>
              <a:t>API REST</a:t>
            </a:r>
            <a:r>
              <a:rPr lang="en-US" dirty="0"/>
              <a:t> 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0DF77B7-9852-87B5-2B75-F352197CC65B}"/>
              </a:ext>
            </a:extLst>
          </p:cNvPr>
          <p:cNvCxnSpPr/>
          <p:nvPr/>
        </p:nvCxnSpPr>
        <p:spPr>
          <a:xfrm>
            <a:off x="2735766" y="2297151"/>
            <a:ext cx="141992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8D63A1DD-B4FE-FC6B-F2B6-CF8A83BECE59}"/>
              </a:ext>
            </a:extLst>
          </p:cNvPr>
          <p:cNvCxnSpPr/>
          <p:nvPr/>
        </p:nvCxnSpPr>
        <p:spPr>
          <a:xfrm>
            <a:off x="5237356" y="2315736"/>
            <a:ext cx="141992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320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BCEC4220-6509-AE02-1027-034BBC02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>
            <a:extLst>
              <a:ext uri="{FF2B5EF4-FFF2-40B4-BE49-F238E27FC236}">
                <a16:creationId xmlns:a16="http://schemas.microsoft.com/office/drawing/2014/main" id="{7CC92899-2095-56B6-6EDC-3B02CE270B7F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952565" y="446632"/>
            <a:ext cx="4253260" cy="5658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SERVER (BACKEND)</a:t>
            </a:r>
            <a:endParaRPr dirty="0"/>
          </a:p>
        </p:txBody>
      </p:sp>
      <p:cxnSp>
        <p:nvCxnSpPr>
          <p:cNvPr id="234" name="Google Shape;234;p46">
            <a:extLst>
              <a:ext uri="{FF2B5EF4-FFF2-40B4-BE49-F238E27FC236}">
                <a16:creationId xmlns:a16="http://schemas.microsoft.com/office/drawing/2014/main" id="{9805FFAE-A479-A3E0-D2C7-D5E7D8495526}"/>
              </a:ext>
            </a:extLst>
          </p:cNvPr>
          <p:cNvCxnSpPr>
            <a:cxnSpLocks/>
          </p:cNvCxnSpPr>
          <p:nvPr/>
        </p:nvCxnSpPr>
        <p:spPr>
          <a:xfrm>
            <a:off x="1041773" y="415352"/>
            <a:ext cx="266113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2" name="Google Shape;240;p46">
            <a:extLst>
              <a:ext uri="{FF2B5EF4-FFF2-40B4-BE49-F238E27FC236}">
                <a16:creationId xmlns:a16="http://schemas.microsoft.com/office/drawing/2014/main" id="{73A8EBD8-2F40-B21F-2D1D-B88FAB2184C1}"/>
              </a:ext>
            </a:extLst>
          </p:cNvPr>
          <p:cNvSpPr txBox="1">
            <a:spLocks/>
          </p:cNvSpPr>
          <p:nvPr/>
        </p:nvSpPr>
        <p:spPr>
          <a:xfrm>
            <a:off x="318740" y="907940"/>
            <a:ext cx="4419600" cy="476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 err="1"/>
              <a:t>Descrizione</a:t>
            </a:r>
            <a:r>
              <a:rPr lang="en-US" dirty="0"/>
              <a:t> generale della </a:t>
            </a:r>
            <a:r>
              <a:rPr lang="en-US" dirty="0" err="1"/>
              <a:t>struttura</a:t>
            </a:r>
            <a:r>
              <a:rPr lang="en-US" dirty="0"/>
              <a:t> del Server. </a:t>
            </a:r>
            <a:r>
              <a:rPr lang="en-US" b="1" dirty="0"/>
              <a:t>MVC</a:t>
            </a:r>
            <a:r>
              <a:rPr lang="en-US" dirty="0"/>
              <a:t> </a:t>
            </a:r>
            <a:r>
              <a:rPr lang="en-US" dirty="0" err="1"/>
              <a:t>adattato</a:t>
            </a:r>
            <a:r>
              <a:rPr lang="en-US" dirty="0"/>
              <a:t> </a:t>
            </a:r>
            <a:r>
              <a:rPr lang="en-US" dirty="0" err="1"/>
              <a:t>all’utilizzo</a:t>
            </a:r>
            <a:r>
              <a:rPr lang="en-US" dirty="0"/>
              <a:t> di Spring Boot</a:t>
            </a:r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82D95E51-D1C7-370E-58F0-AB47518E5FC4}"/>
              </a:ext>
            </a:extLst>
          </p:cNvPr>
          <p:cNvGrpSpPr/>
          <p:nvPr/>
        </p:nvGrpSpPr>
        <p:grpSpPr>
          <a:xfrm>
            <a:off x="1513046" y="3225720"/>
            <a:ext cx="867544" cy="1333418"/>
            <a:chOff x="426612" y="1839715"/>
            <a:chExt cx="643125" cy="958501"/>
          </a:xfrm>
        </p:grpSpPr>
        <p:pic>
          <p:nvPicPr>
            <p:cNvPr id="26" name="Immagine 25" descr="Simple UML Actor - Openclipart">
              <a:extLst>
                <a:ext uri="{FF2B5EF4-FFF2-40B4-BE49-F238E27FC236}">
                  <a16:creationId xmlns:a16="http://schemas.microsoft.com/office/drawing/2014/main" id="{E9905DF8-4B3E-FCB8-4441-BEFD73CCD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>
              <a:off x="503337" y="1839715"/>
              <a:ext cx="392940" cy="650724"/>
            </a:xfrm>
            <a:prstGeom prst="rect">
              <a:avLst/>
            </a:prstGeom>
          </p:spPr>
        </p:pic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AFA4131D-2D45-24C4-1B9B-974E5655BC27}"/>
                </a:ext>
              </a:extLst>
            </p:cNvPr>
            <p:cNvSpPr txBox="1"/>
            <p:nvPr/>
          </p:nvSpPr>
          <p:spPr>
            <a:xfrm>
              <a:off x="426612" y="2490439"/>
              <a:ext cx="643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>
                  <a:solidFill>
                    <a:schemeClr val="bg1"/>
                  </a:solidFill>
                </a:rPr>
                <a:t>Client</a:t>
              </a:r>
            </a:p>
          </p:txBody>
        </p:sp>
      </p:grp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F4D398BD-CC00-B27A-2678-E29CF8587B34}"/>
              </a:ext>
            </a:extLst>
          </p:cNvPr>
          <p:cNvCxnSpPr>
            <a:cxnSpLocks/>
          </p:cNvCxnSpPr>
          <p:nvPr/>
        </p:nvCxnSpPr>
        <p:spPr>
          <a:xfrm flipV="1">
            <a:off x="1884489" y="2513897"/>
            <a:ext cx="0" cy="614328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tangolo 36">
            <a:extLst>
              <a:ext uri="{FF2B5EF4-FFF2-40B4-BE49-F238E27FC236}">
                <a16:creationId xmlns:a16="http://schemas.microsoft.com/office/drawing/2014/main" id="{37BE6B76-2496-D614-0323-C82F9B97BA7B}"/>
              </a:ext>
            </a:extLst>
          </p:cNvPr>
          <p:cNvSpPr/>
          <p:nvPr/>
        </p:nvSpPr>
        <p:spPr>
          <a:xfrm>
            <a:off x="1037717" y="1850835"/>
            <a:ext cx="1693545" cy="563486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VIEWS</a:t>
            </a:r>
          </a:p>
          <a:p>
            <a:pPr algn="ctr"/>
            <a:r>
              <a:rPr lang="it-IT" sz="1200" dirty="0" err="1">
                <a:solidFill>
                  <a:schemeClr val="bg1">
                    <a:lumMod val="50000"/>
                  </a:schemeClr>
                </a:solidFill>
              </a:rPr>
              <a:t>Serializer</a:t>
            </a:r>
            <a:r>
              <a:rPr lang="it-IT" sz="12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it-IT" sz="1200" dirty="0" err="1">
                <a:solidFill>
                  <a:schemeClr val="bg1">
                    <a:lumMod val="50000"/>
                  </a:schemeClr>
                </a:solidFill>
              </a:rPr>
              <a:t>Deserializer</a:t>
            </a:r>
            <a:endParaRPr lang="it-IT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3C92ACDE-EFEB-E048-985D-A816A32946A2}"/>
              </a:ext>
            </a:extLst>
          </p:cNvPr>
          <p:cNvCxnSpPr>
            <a:cxnSpLocks/>
          </p:cNvCxnSpPr>
          <p:nvPr/>
        </p:nvCxnSpPr>
        <p:spPr>
          <a:xfrm flipV="1">
            <a:off x="2768092" y="2088960"/>
            <a:ext cx="892810" cy="1633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tangolo 39">
            <a:extLst>
              <a:ext uri="{FF2B5EF4-FFF2-40B4-BE49-F238E27FC236}">
                <a16:creationId xmlns:a16="http://schemas.microsoft.com/office/drawing/2014/main" id="{4DDCC4D4-5153-45E9-2852-230ECBC1881B}"/>
              </a:ext>
            </a:extLst>
          </p:cNvPr>
          <p:cNvSpPr/>
          <p:nvPr/>
        </p:nvSpPr>
        <p:spPr>
          <a:xfrm>
            <a:off x="3697732" y="1850835"/>
            <a:ext cx="1368081" cy="5634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CONTROLLERS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3B047710-339D-1950-CED3-0496353B0B57}"/>
              </a:ext>
            </a:extLst>
          </p:cNvPr>
          <p:cNvSpPr/>
          <p:nvPr/>
        </p:nvSpPr>
        <p:spPr>
          <a:xfrm>
            <a:off x="5065813" y="1850835"/>
            <a:ext cx="1368081" cy="5634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SERVICES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A40693C1-FB1F-7910-28FB-3733C9CF9DF5}"/>
              </a:ext>
            </a:extLst>
          </p:cNvPr>
          <p:cNvCxnSpPr>
            <a:cxnSpLocks/>
          </p:cNvCxnSpPr>
          <p:nvPr/>
        </p:nvCxnSpPr>
        <p:spPr>
          <a:xfrm>
            <a:off x="5927852" y="2476500"/>
            <a:ext cx="0" cy="70294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2CE4CE8E-BD71-1005-DF63-37D97761F02D}"/>
              </a:ext>
            </a:extLst>
          </p:cNvPr>
          <p:cNvCxnSpPr>
            <a:cxnSpLocks/>
          </p:cNvCxnSpPr>
          <p:nvPr/>
        </p:nvCxnSpPr>
        <p:spPr>
          <a:xfrm flipV="1">
            <a:off x="5623052" y="2461260"/>
            <a:ext cx="0" cy="71818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ttangolo 52">
            <a:extLst>
              <a:ext uri="{FF2B5EF4-FFF2-40B4-BE49-F238E27FC236}">
                <a16:creationId xmlns:a16="http://schemas.microsoft.com/office/drawing/2014/main" id="{08DB3FDE-F78A-B127-4273-C1A905D495D6}"/>
              </a:ext>
            </a:extLst>
          </p:cNvPr>
          <p:cNvSpPr/>
          <p:nvPr/>
        </p:nvSpPr>
        <p:spPr>
          <a:xfrm>
            <a:off x="5065812" y="3238582"/>
            <a:ext cx="1368081" cy="5634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REPOSITORIES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9536AAA0-2BB6-5FB8-C946-52E28A8F051B}"/>
              </a:ext>
            </a:extLst>
          </p:cNvPr>
          <p:cNvSpPr/>
          <p:nvPr/>
        </p:nvSpPr>
        <p:spPr>
          <a:xfrm>
            <a:off x="3697731" y="3241998"/>
            <a:ext cx="1368081" cy="5634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MODELS</a:t>
            </a:r>
          </a:p>
        </p:txBody>
      </p: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6751E600-3D31-C660-DED1-AB048899517C}"/>
              </a:ext>
            </a:extLst>
          </p:cNvPr>
          <p:cNvCxnSpPr>
            <a:cxnSpLocks/>
          </p:cNvCxnSpPr>
          <p:nvPr/>
        </p:nvCxnSpPr>
        <p:spPr>
          <a:xfrm>
            <a:off x="6471993" y="3407614"/>
            <a:ext cx="680585" cy="0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67D96374-F2BF-CD61-96EF-92BC74EF2E95}"/>
              </a:ext>
            </a:extLst>
          </p:cNvPr>
          <p:cNvCxnSpPr>
            <a:cxnSpLocks/>
          </p:cNvCxnSpPr>
          <p:nvPr/>
        </p:nvCxnSpPr>
        <p:spPr>
          <a:xfrm flipH="1">
            <a:off x="6471993" y="3617580"/>
            <a:ext cx="656424" cy="0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6" name="Elemento grafico 195" descr="Database contorno">
            <a:extLst>
              <a:ext uri="{FF2B5EF4-FFF2-40B4-BE49-F238E27FC236}">
                <a16:creationId xmlns:a16="http://schemas.microsoft.com/office/drawing/2014/main" id="{FCD1C66A-06C1-C794-2C60-9AF1888BC2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8993" y="2975609"/>
            <a:ext cx="1073149" cy="1073149"/>
          </a:xfrm>
          <a:prstGeom prst="rect">
            <a:avLst/>
          </a:prstGeom>
        </p:spPr>
      </p:pic>
      <p:sp>
        <p:nvSpPr>
          <p:cNvPr id="197" name="CasellaDiTesto 196">
            <a:extLst>
              <a:ext uri="{FF2B5EF4-FFF2-40B4-BE49-F238E27FC236}">
                <a16:creationId xmlns:a16="http://schemas.microsoft.com/office/drawing/2014/main" id="{E39C28B6-FF81-02F7-FAC4-50FE3B8ED01D}"/>
              </a:ext>
            </a:extLst>
          </p:cNvPr>
          <p:cNvSpPr txBox="1"/>
          <p:nvPr/>
        </p:nvSpPr>
        <p:spPr>
          <a:xfrm>
            <a:off x="7131794" y="4018040"/>
            <a:ext cx="867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</a:rPr>
              <a:t>DBMS</a:t>
            </a:r>
          </a:p>
          <a:p>
            <a:pPr algn="ctr"/>
            <a:r>
              <a:rPr lang="it-IT" sz="1200" dirty="0" err="1">
                <a:solidFill>
                  <a:schemeClr val="bg1">
                    <a:lumMod val="50000"/>
                  </a:schemeClr>
                </a:solidFill>
              </a:rPr>
              <a:t>Postgress</a:t>
            </a:r>
            <a:endParaRPr lang="it-IT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04" name="Immagine 203" descr="Json file - Free ui icons">
            <a:extLst>
              <a:ext uri="{FF2B5EF4-FFF2-40B4-BE49-F238E27FC236}">
                <a16:creationId xmlns:a16="http://schemas.microsoft.com/office/drawing/2014/main" id="{2005F1A4-DC1C-4C80-D650-1406F15772F2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190272" y="2589006"/>
            <a:ext cx="541817" cy="541817"/>
          </a:xfrm>
          <a:prstGeom prst="rect">
            <a:avLst/>
          </a:prstGeom>
        </p:spPr>
      </p:pic>
      <p:pic>
        <p:nvPicPr>
          <p:cNvPr id="205" name="Immagine 204" descr="Object file format - Free interface icons">
            <a:extLst>
              <a:ext uri="{FF2B5EF4-FFF2-40B4-BE49-F238E27FC236}">
                <a16:creationId xmlns:a16="http://schemas.microsoft.com/office/drawing/2014/main" id="{3206FFB5-54D5-649D-7BCA-2D2910B12E6C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2943919" y="2196709"/>
            <a:ext cx="529101" cy="52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41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>
          <a:extLst>
            <a:ext uri="{FF2B5EF4-FFF2-40B4-BE49-F238E27FC236}">
              <a16:creationId xmlns:a16="http://schemas.microsoft.com/office/drawing/2014/main" id="{0737B48B-0A0F-A97A-A39F-B0773835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57">
            <a:extLst>
              <a:ext uri="{FF2B5EF4-FFF2-40B4-BE49-F238E27FC236}">
                <a16:creationId xmlns:a16="http://schemas.microsoft.com/office/drawing/2014/main" id="{D01647B8-0258-B40D-91F9-3DFC529B8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SERVER (BACKEND)</a:t>
            </a:r>
            <a:endParaRPr dirty="0"/>
          </a:p>
        </p:txBody>
      </p:sp>
      <p:sp>
        <p:nvSpPr>
          <p:cNvPr id="1994" name="Google Shape;1994;p57">
            <a:extLst>
              <a:ext uri="{FF2B5EF4-FFF2-40B4-BE49-F238E27FC236}">
                <a16:creationId xmlns:a16="http://schemas.microsoft.com/office/drawing/2014/main" id="{0246F67B-77B6-11DF-7758-3CC640F294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4468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 dirty="0" err="1"/>
              <a:t>Dependency</a:t>
            </a:r>
            <a:r>
              <a:rPr lang="it-IT" dirty="0"/>
              <a:t> Injection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-IT" dirty="0"/>
              <a:t>Event-</a:t>
            </a:r>
            <a:r>
              <a:rPr lang="it-IT" dirty="0" err="1"/>
              <a:t>Listener</a:t>
            </a:r>
            <a:r>
              <a:rPr lang="it-IT" dirty="0"/>
              <a:t> (Observer)</a:t>
            </a:r>
            <a:endParaRPr dirty="0"/>
          </a:p>
        </p:txBody>
      </p:sp>
      <p:sp>
        <p:nvSpPr>
          <p:cNvPr id="1995" name="Google Shape;1995;p57">
            <a:extLst>
              <a:ext uri="{FF2B5EF4-FFF2-40B4-BE49-F238E27FC236}">
                <a16:creationId xmlns:a16="http://schemas.microsoft.com/office/drawing/2014/main" id="{3F89F1E5-6251-6D4D-85C0-00F5ACC38FD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 dirty="0"/>
              <a:t>Amazon Cognito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Amazon RDS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Amazon ECR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dirty="0"/>
              <a:t>Amazon EC2</a:t>
            </a:r>
            <a:endParaRPr dirty="0"/>
          </a:p>
        </p:txBody>
      </p:sp>
      <p:sp>
        <p:nvSpPr>
          <p:cNvPr id="1996" name="Google Shape;1996;p57">
            <a:extLst>
              <a:ext uri="{FF2B5EF4-FFF2-40B4-BE49-F238E27FC236}">
                <a16:creationId xmlns:a16="http://schemas.microsoft.com/office/drawing/2014/main" id="{5AB020D9-65E4-39D5-7458-8FA448176BF2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624468" y="1955125"/>
            <a:ext cx="3847931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PRINCIPALI DESIGN PATTERN</a:t>
            </a:r>
            <a:endParaRPr dirty="0"/>
          </a:p>
        </p:txBody>
      </p:sp>
      <p:sp>
        <p:nvSpPr>
          <p:cNvPr id="1997" name="Google Shape;1997;p57">
            <a:extLst>
              <a:ext uri="{FF2B5EF4-FFF2-40B4-BE49-F238E27FC236}">
                <a16:creationId xmlns:a16="http://schemas.microsoft.com/office/drawing/2014/main" id="{891D674A-6B97-8AEF-9D95-800501C343F9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SERVIZI ESTERNI</a:t>
            </a:r>
            <a:endParaRPr dirty="0"/>
          </a:p>
        </p:txBody>
      </p:sp>
      <p:cxnSp>
        <p:nvCxnSpPr>
          <p:cNvPr id="1998" name="Google Shape;1998;p57">
            <a:extLst>
              <a:ext uri="{FF2B5EF4-FFF2-40B4-BE49-F238E27FC236}">
                <a16:creationId xmlns:a16="http://schemas.microsoft.com/office/drawing/2014/main" id="{7CF6D520-FA8F-69FE-3929-36F310F0034C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97392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1046008D-DA8C-6B4E-48AA-B4B6EB905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>
            <a:extLst>
              <a:ext uri="{FF2B5EF4-FFF2-40B4-BE49-F238E27FC236}">
                <a16:creationId xmlns:a16="http://schemas.microsoft.com/office/drawing/2014/main" id="{63863C65-F336-1CBD-B763-B091908D5053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18740" y="445025"/>
            <a:ext cx="3651094" cy="551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CLIENT (FRONTEND)</a:t>
            </a:r>
            <a:endParaRPr dirty="0"/>
          </a:p>
        </p:txBody>
      </p:sp>
      <p:cxnSp>
        <p:nvCxnSpPr>
          <p:cNvPr id="234" name="Google Shape;234;p46">
            <a:extLst>
              <a:ext uri="{FF2B5EF4-FFF2-40B4-BE49-F238E27FC236}">
                <a16:creationId xmlns:a16="http://schemas.microsoft.com/office/drawing/2014/main" id="{459B8199-388A-C1C7-9CFD-998E042053F4}"/>
              </a:ext>
            </a:extLst>
          </p:cNvPr>
          <p:cNvCxnSpPr>
            <a:cxnSpLocks/>
          </p:cNvCxnSpPr>
          <p:nvPr/>
        </p:nvCxnSpPr>
        <p:spPr>
          <a:xfrm>
            <a:off x="396993" y="408942"/>
            <a:ext cx="266113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2" name="Google Shape;240;p46">
            <a:extLst>
              <a:ext uri="{FF2B5EF4-FFF2-40B4-BE49-F238E27FC236}">
                <a16:creationId xmlns:a16="http://schemas.microsoft.com/office/drawing/2014/main" id="{8B895C56-1E18-9D54-51BD-2231D2504C48}"/>
              </a:ext>
            </a:extLst>
          </p:cNvPr>
          <p:cNvSpPr txBox="1">
            <a:spLocks/>
          </p:cNvSpPr>
          <p:nvPr/>
        </p:nvSpPr>
        <p:spPr>
          <a:xfrm>
            <a:off x="318740" y="907940"/>
            <a:ext cx="4419600" cy="476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 err="1"/>
              <a:t>Descrizione</a:t>
            </a:r>
            <a:r>
              <a:rPr lang="en-US" dirty="0"/>
              <a:t> generale della </a:t>
            </a:r>
            <a:r>
              <a:rPr lang="en-US" dirty="0" err="1"/>
              <a:t>struttura</a:t>
            </a:r>
            <a:r>
              <a:rPr lang="en-US" dirty="0"/>
              <a:t> del Client. </a:t>
            </a:r>
            <a:r>
              <a:rPr lang="en-US" b="1" dirty="0"/>
              <a:t>MVC</a:t>
            </a:r>
            <a:r>
              <a:rPr lang="en-US" dirty="0"/>
              <a:t> </a:t>
            </a:r>
            <a:r>
              <a:rPr lang="en-US" dirty="0" err="1"/>
              <a:t>adattato</a:t>
            </a:r>
            <a:r>
              <a:rPr lang="en-US" dirty="0"/>
              <a:t> </a:t>
            </a:r>
            <a:r>
              <a:rPr lang="en-US" dirty="0" err="1"/>
              <a:t>all’utilizzo</a:t>
            </a:r>
            <a:r>
              <a:rPr lang="en-US" dirty="0"/>
              <a:t> di JavaFX</a:t>
            </a:r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E751AA2C-7663-6B8A-93CC-3EEC847FA974}"/>
              </a:ext>
            </a:extLst>
          </p:cNvPr>
          <p:cNvGrpSpPr/>
          <p:nvPr/>
        </p:nvGrpSpPr>
        <p:grpSpPr>
          <a:xfrm>
            <a:off x="1147053" y="3350094"/>
            <a:ext cx="562975" cy="933346"/>
            <a:chOff x="430426" y="1839715"/>
            <a:chExt cx="562975" cy="933346"/>
          </a:xfrm>
        </p:grpSpPr>
        <p:pic>
          <p:nvPicPr>
            <p:cNvPr id="26" name="Immagine 25" descr="Simple UML Actor - Openclipart">
              <a:extLst>
                <a:ext uri="{FF2B5EF4-FFF2-40B4-BE49-F238E27FC236}">
                  <a16:creationId xmlns:a16="http://schemas.microsoft.com/office/drawing/2014/main" id="{E887C328-00A1-B359-899D-7D4A6A8C5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>
              <a:off x="503336" y="1839715"/>
              <a:ext cx="392940" cy="650724"/>
            </a:xfrm>
            <a:prstGeom prst="rect">
              <a:avLst/>
            </a:prstGeom>
          </p:spPr>
        </p:pic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8658F04E-3239-FBD9-080E-D0B00E510C08}"/>
                </a:ext>
              </a:extLst>
            </p:cNvPr>
            <p:cNvSpPr txBox="1"/>
            <p:nvPr/>
          </p:nvSpPr>
          <p:spPr>
            <a:xfrm>
              <a:off x="430426" y="2465284"/>
              <a:ext cx="5629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>
                  <a:solidFill>
                    <a:schemeClr val="bg1"/>
                  </a:solidFill>
                </a:rPr>
                <a:t>User</a:t>
              </a:r>
            </a:p>
          </p:txBody>
        </p:sp>
      </p:grp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3E578E95-B21A-2A6E-E89D-FFA026464A64}"/>
              </a:ext>
            </a:extLst>
          </p:cNvPr>
          <p:cNvCxnSpPr>
            <a:cxnSpLocks/>
          </p:cNvCxnSpPr>
          <p:nvPr/>
        </p:nvCxnSpPr>
        <p:spPr>
          <a:xfrm flipV="1">
            <a:off x="1428541" y="2591012"/>
            <a:ext cx="0" cy="614328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tangolo 36">
            <a:extLst>
              <a:ext uri="{FF2B5EF4-FFF2-40B4-BE49-F238E27FC236}">
                <a16:creationId xmlns:a16="http://schemas.microsoft.com/office/drawing/2014/main" id="{F139B093-B279-6FC1-E993-2E624EBDB5D8}"/>
              </a:ext>
            </a:extLst>
          </p:cNvPr>
          <p:cNvSpPr/>
          <p:nvPr/>
        </p:nvSpPr>
        <p:spPr>
          <a:xfrm>
            <a:off x="587040" y="1951566"/>
            <a:ext cx="1693545" cy="563486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VIEWS</a:t>
            </a:r>
          </a:p>
          <a:p>
            <a:pPr algn="ctr"/>
            <a:r>
              <a:rPr lang="it-IT" sz="1200" dirty="0" err="1">
                <a:solidFill>
                  <a:schemeClr val="bg1">
                    <a:lumMod val="50000"/>
                  </a:schemeClr>
                </a:solidFill>
              </a:rPr>
              <a:t>ViewController</a:t>
            </a:r>
            <a:r>
              <a:rPr lang="it-IT" sz="1200" dirty="0">
                <a:solidFill>
                  <a:schemeClr val="bg1">
                    <a:lumMod val="50000"/>
                  </a:schemeClr>
                </a:solidFill>
              </a:rPr>
              <a:t>/FXML</a:t>
            </a: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BE5DB7BE-7CEB-E4FD-C36B-4E3594987964}"/>
              </a:ext>
            </a:extLst>
          </p:cNvPr>
          <p:cNvCxnSpPr>
            <a:cxnSpLocks/>
          </p:cNvCxnSpPr>
          <p:nvPr/>
        </p:nvCxnSpPr>
        <p:spPr>
          <a:xfrm flipV="1">
            <a:off x="2324430" y="2227307"/>
            <a:ext cx="1071870" cy="1633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tangolo 39">
            <a:extLst>
              <a:ext uri="{FF2B5EF4-FFF2-40B4-BE49-F238E27FC236}">
                <a16:creationId xmlns:a16="http://schemas.microsoft.com/office/drawing/2014/main" id="{B0CA1463-168E-5053-1D04-C08BFF591C40}"/>
              </a:ext>
            </a:extLst>
          </p:cNvPr>
          <p:cNvSpPr/>
          <p:nvPr/>
        </p:nvSpPr>
        <p:spPr>
          <a:xfrm>
            <a:off x="3430775" y="1978420"/>
            <a:ext cx="1441334" cy="5618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CONTROLLERS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B18C019C-7E0A-2536-E318-DF7E99933FD2}"/>
              </a:ext>
            </a:extLst>
          </p:cNvPr>
          <p:cNvSpPr/>
          <p:nvPr/>
        </p:nvSpPr>
        <p:spPr>
          <a:xfrm>
            <a:off x="4886813" y="1822972"/>
            <a:ext cx="1441334" cy="8783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SERVICES</a:t>
            </a:r>
          </a:p>
          <a:p>
            <a:pPr algn="ctr"/>
            <a:r>
              <a:rPr lang="it-IT" sz="1200" b="1" dirty="0">
                <a:solidFill>
                  <a:schemeClr val="bg1">
                    <a:lumMod val="50000"/>
                  </a:schemeClr>
                </a:solidFill>
              </a:rPr>
              <a:t>API REST/Logica di business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815DA80A-3BA9-B333-A127-C6A336961A4A}"/>
              </a:ext>
            </a:extLst>
          </p:cNvPr>
          <p:cNvCxnSpPr>
            <a:cxnSpLocks/>
          </p:cNvCxnSpPr>
          <p:nvPr/>
        </p:nvCxnSpPr>
        <p:spPr>
          <a:xfrm>
            <a:off x="5673564" y="2774300"/>
            <a:ext cx="0" cy="70294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ttangolo 54">
            <a:extLst>
              <a:ext uri="{FF2B5EF4-FFF2-40B4-BE49-F238E27FC236}">
                <a16:creationId xmlns:a16="http://schemas.microsoft.com/office/drawing/2014/main" id="{51C8452B-FBD0-1468-0410-B50BBCDB4051}"/>
              </a:ext>
            </a:extLst>
          </p:cNvPr>
          <p:cNvSpPr/>
          <p:nvPr/>
        </p:nvSpPr>
        <p:spPr>
          <a:xfrm>
            <a:off x="4989523" y="3566065"/>
            <a:ext cx="1368081" cy="5634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</a:rPr>
              <a:t>MODELS</a:t>
            </a:r>
          </a:p>
        </p:txBody>
      </p: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54FEF849-1BDC-F08F-FD0D-B8F2FC37C431}"/>
              </a:ext>
            </a:extLst>
          </p:cNvPr>
          <p:cNvCxnSpPr>
            <a:cxnSpLocks/>
          </p:cNvCxnSpPr>
          <p:nvPr/>
        </p:nvCxnSpPr>
        <p:spPr>
          <a:xfrm>
            <a:off x="6380760" y="2148202"/>
            <a:ext cx="680585" cy="0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8740583F-4D34-8BA9-1C89-DE39B091F55D}"/>
              </a:ext>
            </a:extLst>
          </p:cNvPr>
          <p:cNvCxnSpPr>
            <a:cxnSpLocks/>
          </p:cNvCxnSpPr>
          <p:nvPr/>
        </p:nvCxnSpPr>
        <p:spPr>
          <a:xfrm flipH="1">
            <a:off x="6380760" y="2358168"/>
            <a:ext cx="656424" cy="0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CasellaDiTesto 196">
            <a:extLst>
              <a:ext uri="{FF2B5EF4-FFF2-40B4-BE49-F238E27FC236}">
                <a16:creationId xmlns:a16="http://schemas.microsoft.com/office/drawing/2014/main" id="{1D8E4D5D-230F-B93F-BD97-AFD5136BA537}"/>
              </a:ext>
            </a:extLst>
          </p:cNvPr>
          <p:cNvSpPr txBox="1"/>
          <p:nvPr/>
        </p:nvSpPr>
        <p:spPr>
          <a:xfrm>
            <a:off x="7147958" y="2681613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3" name="Elemento grafico 2" descr="Server con riempimento a tinta unita">
            <a:extLst>
              <a:ext uri="{FF2B5EF4-FFF2-40B4-BE49-F238E27FC236}">
                <a16:creationId xmlns:a16="http://schemas.microsoft.com/office/drawing/2014/main" id="{7E21C208-F0F9-44D5-B777-39CCA3519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1137" y="18229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14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>
          <a:extLst>
            <a:ext uri="{FF2B5EF4-FFF2-40B4-BE49-F238E27FC236}">
              <a16:creationId xmlns:a16="http://schemas.microsoft.com/office/drawing/2014/main" id="{B8D83690-D8CE-9626-8383-277C200A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57">
            <a:extLst>
              <a:ext uri="{FF2B5EF4-FFF2-40B4-BE49-F238E27FC236}">
                <a16:creationId xmlns:a16="http://schemas.microsoft.com/office/drawing/2014/main" id="{263C99AC-1695-8BAC-523E-BFBE683ED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CLIENT (FRONTEND)</a:t>
            </a:r>
            <a:endParaRPr dirty="0"/>
          </a:p>
        </p:txBody>
      </p:sp>
      <p:sp>
        <p:nvSpPr>
          <p:cNvPr id="1994" name="Google Shape;1994;p57">
            <a:extLst>
              <a:ext uri="{FF2B5EF4-FFF2-40B4-BE49-F238E27FC236}">
                <a16:creationId xmlns:a16="http://schemas.microsoft.com/office/drawing/2014/main" id="{5EF96393-86A6-4AA5-83A9-66EAB58396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4468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 dirty="0" err="1"/>
              <a:t>Dependency</a:t>
            </a:r>
            <a:r>
              <a:rPr lang="it-IT" dirty="0"/>
              <a:t> Injection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-IT" dirty="0"/>
              <a:t>Singleton</a:t>
            </a:r>
          </a:p>
        </p:txBody>
      </p:sp>
      <p:sp>
        <p:nvSpPr>
          <p:cNvPr id="1995" name="Google Shape;1995;p57">
            <a:extLst>
              <a:ext uri="{FF2B5EF4-FFF2-40B4-BE49-F238E27FC236}">
                <a16:creationId xmlns:a16="http://schemas.microsoft.com/office/drawing/2014/main" id="{27F0765E-DDAA-98C3-1EDB-A7A2F2F5353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 dirty="0"/>
              <a:t>Amazon Cognito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-IT" dirty="0"/>
              <a:t>API Bugboard26</a:t>
            </a:r>
            <a:endParaRPr dirty="0"/>
          </a:p>
        </p:txBody>
      </p:sp>
      <p:sp>
        <p:nvSpPr>
          <p:cNvPr id="1996" name="Google Shape;1996;p57">
            <a:extLst>
              <a:ext uri="{FF2B5EF4-FFF2-40B4-BE49-F238E27FC236}">
                <a16:creationId xmlns:a16="http://schemas.microsoft.com/office/drawing/2014/main" id="{78356D12-469C-C5A4-7B8C-3133F9D8EEA4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624468" y="1955125"/>
            <a:ext cx="3847931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PRINCIPALI DESIGN PATTERN</a:t>
            </a:r>
            <a:endParaRPr dirty="0"/>
          </a:p>
        </p:txBody>
      </p:sp>
      <p:sp>
        <p:nvSpPr>
          <p:cNvPr id="1997" name="Google Shape;1997;p57">
            <a:extLst>
              <a:ext uri="{FF2B5EF4-FFF2-40B4-BE49-F238E27FC236}">
                <a16:creationId xmlns:a16="http://schemas.microsoft.com/office/drawing/2014/main" id="{3A15A4EB-777D-FDA9-9B23-FF04A8A676B5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SERVIZI ESTERNI</a:t>
            </a:r>
            <a:endParaRPr dirty="0"/>
          </a:p>
        </p:txBody>
      </p:sp>
      <p:cxnSp>
        <p:nvCxnSpPr>
          <p:cNvPr id="1998" name="Google Shape;1998;p57">
            <a:extLst>
              <a:ext uri="{FF2B5EF4-FFF2-40B4-BE49-F238E27FC236}">
                <a16:creationId xmlns:a16="http://schemas.microsoft.com/office/drawing/2014/main" id="{8DD16B07-C2D3-F1ED-99AB-10D3C28A4344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292601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2FF17584-5029-F3E8-EEBC-51F49CB15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>
            <a:extLst>
              <a:ext uri="{FF2B5EF4-FFF2-40B4-BE49-F238E27FC236}">
                <a16:creationId xmlns:a16="http://schemas.microsoft.com/office/drawing/2014/main" id="{ED5ADEA2-D7E5-3F5F-27BD-B4C86EB6603F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18740" y="445025"/>
            <a:ext cx="3034060" cy="5658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Persistenza</a:t>
            </a:r>
            <a:endParaRPr dirty="0"/>
          </a:p>
        </p:txBody>
      </p:sp>
      <p:cxnSp>
        <p:nvCxnSpPr>
          <p:cNvPr id="234" name="Google Shape;234;p46">
            <a:extLst>
              <a:ext uri="{FF2B5EF4-FFF2-40B4-BE49-F238E27FC236}">
                <a16:creationId xmlns:a16="http://schemas.microsoft.com/office/drawing/2014/main" id="{A24AFCB8-E837-7F38-2525-995717A81DB2}"/>
              </a:ext>
            </a:extLst>
          </p:cNvPr>
          <p:cNvCxnSpPr>
            <a:cxnSpLocks/>
          </p:cNvCxnSpPr>
          <p:nvPr/>
        </p:nvCxnSpPr>
        <p:spPr>
          <a:xfrm>
            <a:off x="396993" y="408942"/>
            <a:ext cx="266113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2" name="Google Shape;240;p46">
            <a:extLst>
              <a:ext uri="{FF2B5EF4-FFF2-40B4-BE49-F238E27FC236}">
                <a16:creationId xmlns:a16="http://schemas.microsoft.com/office/drawing/2014/main" id="{8F1631D6-DE78-2A86-CE61-83C934B154F0}"/>
              </a:ext>
            </a:extLst>
          </p:cNvPr>
          <p:cNvSpPr txBox="1">
            <a:spLocks/>
          </p:cNvSpPr>
          <p:nvPr/>
        </p:nvSpPr>
        <p:spPr>
          <a:xfrm>
            <a:off x="318740" y="907940"/>
            <a:ext cx="4419600" cy="476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US" dirty="0" err="1"/>
              <a:t>Descrizione</a:t>
            </a:r>
            <a:r>
              <a:rPr lang="en-US" dirty="0"/>
              <a:t> generale della </a:t>
            </a:r>
            <a:r>
              <a:rPr lang="en-US" dirty="0" err="1"/>
              <a:t>struttura</a:t>
            </a:r>
            <a:r>
              <a:rPr lang="en-US" dirty="0"/>
              <a:t> del Database. </a:t>
            </a:r>
          </a:p>
        </p:txBody>
      </p:sp>
      <p:sp>
        <p:nvSpPr>
          <p:cNvPr id="8" name="Google Shape;240;p46">
            <a:extLst>
              <a:ext uri="{FF2B5EF4-FFF2-40B4-BE49-F238E27FC236}">
                <a16:creationId xmlns:a16="http://schemas.microsoft.com/office/drawing/2014/main" id="{D87B0AE6-8EB1-3E90-07E3-F2FFD5E1E02E}"/>
              </a:ext>
            </a:extLst>
          </p:cNvPr>
          <p:cNvSpPr txBox="1">
            <a:spLocks/>
          </p:cNvSpPr>
          <p:nvPr/>
        </p:nvSpPr>
        <p:spPr>
          <a:xfrm>
            <a:off x="362661" y="1708018"/>
            <a:ext cx="4419600" cy="685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dirty="0"/>
              <a:t>Per lo </a:t>
            </a:r>
            <a:r>
              <a:rPr lang="en-US" dirty="0" err="1"/>
              <a:t>strato</a:t>
            </a:r>
            <a:r>
              <a:rPr lang="en-US" dirty="0"/>
              <a:t> di </a:t>
            </a:r>
            <a:r>
              <a:rPr lang="en-US" dirty="0" err="1"/>
              <a:t>persistenza</a:t>
            </a:r>
            <a:r>
              <a:rPr lang="en-US" dirty="0"/>
              <a:t> è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scelto</a:t>
            </a:r>
            <a:r>
              <a:rPr lang="en-US" dirty="0"/>
              <a:t> un </a:t>
            </a:r>
            <a:r>
              <a:rPr lang="en-US" b="1" dirty="0"/>
              <a:t>database </a:t>
            </a:r>
            <a:r>
              <a:rPr lang="en-US" b="1" dirty="0" err="1"/>
              <a:t>relazionale</a:t>
            </a:r>
            <a:r>
              <a:rPr lang="en-US" b="1" dirty="0"/>
              <a:t> </a:t>
            </a:r>
            <a:r>
              <a:rPr lang="en-US" dirty="0"/>
              <a:t>con </a:t>
            </a:r>
            <a:r>
              <a:rPr lang="en-US" b="1" dirty="0"/>
              <a:t>DBMS</a:t>
            </a:r>
            <a:r>
              <a:rPr lang="en-US" dirty="0"/>
              <a:t> </a:t>
            </a:r>
            <a:r>
              <a:rPr lang="en-US" b="1" dirty="0"/>
              <a:t>PostgreSQL</a:t>
            </a:r>
            <a:r>
              <a:rPr lang="en-US" dirty="0"/>
              <a:t>.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B40CD1-D38F-0A5A-AA50-8B2B9658FFD0}"/>
              </a:ext>
            </a:extLst>
          </p:cNvPr>
          <p:cNvSpPr txBox="1"/>
          <p:nvPr/>
        </p:nvSpPr>
        <p:spPr>
          <a:xfrm>
            <a:off x="362661" y="2581403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lt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La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struttura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del database è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essenziale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e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si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occupa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</a:t>
            </a:r>
            <a:r>
              <a:rPr lang="en-US" b="1" dirty="0">
                <a:solidFill>
                  <a:schemeClr val="lt1"/>
                </a:solidFill>
                <a:latin typeface="Montserrat"/>
                <a:sym typeface="Montserrat"/>
              </a:rPr>
              <a:t>della sola </a:t>
            </a:r>
            <a:r>
              <a:rPr lang="en-US" b="1" dirty="0" err="1">
                <a:solidFill>
                  <a:schemeClr val="lt1"/>
                </a:solidFill>
                <a:latin typeface="Montserrat"/>
                <a:sym typeface="Montserrat"/>
              </a:rPr>
              <a:t>memorizzazione</a:t>
            </a:r>
            <a:r>
              <a:rPr lang="en-US" b="1" dirty="0">
                <a:solidFill>
                  <a:schemeClr val="lt1"/>
                </a:solidFill>
                <a:latin typeface="Montserrat"/>
                <a:sym typeface="Montserrat"/>
              </a:rPr>
              <a:t> </a:t>
            </a:r>
            <a:r>
              <a:rPr lang="en-US" b="1" dirty="0" err="1">
                <a:solidFill>
                  <a:schemeClr val="lt1"/>
                </a:solidFill>
                <a:latin typeface="Montserrat"/>
                <a:sym typeface="Montserrat"/>
              </a:rPr>
              <a:t>fisica</a:t>
            </a:r>
            <a:r>
              <a:rPr lang="en-US" b="1" dirty="0">
                <a:solidFill>
                  <a:schemeClr val="lt1"/>
                </a:solidFill>
                <a:latin typeface="Montserrat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dei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dati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.</a:t>
            </a:r>
            <a:endParaRPr lang="it-IT" dirty="0">
              <a:solidFill>
                <a:schemeClr val="lt1"/>
              </a:solidFill>
              <a:latin typeface="Montserrat"/>
              <a:sym typeface="Montserrat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F0687A2-F256-1790-B22C-B2726E37B2D0}"/>
              </a:ext>
            </a:extLst>
          </p:cNvPr>
          <p:cNvSpPr txBox="1"/>
          <p:nvPr/>
        </p:nvSpPr>
        <p:spPr>
          <a:xfrm>
            <a:off x="362661" y="3507674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lt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La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gestione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dei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vincoli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di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integrità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è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stata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delegate al backend per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mantenere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un </a:t>
            </a:r>
            <a:r>
              <a:rPr lang="en-US" b="1" dirty="0">
                <a:solidFill>
                  <a:schemeClr val="lt1"/>
                </a:solidFill>
                <a:latin typeface="Montserrat"/>
                <a:sym typeface="Montserrat"/>
              </a:rPr>
              <a:t>basso </a:t>
            </a:r>
            <a:r>
              <a:rPr lang="en-US" b="1" dirty="0" err="1">
                <a:solidFill>
                  <a:schemeClr val="lt1"/>
                </a:solidFill>
                <a:latin typeface="Montserrat"/>
                <a:sym typeface="Montserrat"/>
              </a:rPr>
              <a:t>accoppiamento</a:t>
            </a:r>
            <a:r>
              <a:rPr lang="en-US" b="1" dirty="0">
                <a:solidFill>
                  <a:schemeClr val="lt1"/>
                </a:solidFill>
                <a:latin typeface="Montserrat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tra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I due strati del Sistema. Nello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specifico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si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utilizzano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le </a:t>
            </a:r>
            <a:r>
              <a:rPr lang="en-US" dirty="0" err="1">
                <a:solidFill>
                  <a:schemeClr val="lt1"/>
                </a:solidFill>
                <a:latin typeface="Montserrat"/>
                <a:sym typeface="Montserrat"/>
              </a:rPr>
              <a:t>tecnologie</a:t>
            </a:r>
            <a:r>
              <a:rPr lang="en-US" dirty="0">
                <a:solidFill>
                  <a:schemeClr val="lt1"/>
                </a:solidFill>
                <a:latin typeface="Montserrat"/>
                <a:sym typeface="Montserrat"/>
              </a:rPr>
              <a:t> Hibernate.</a:t>
            </a:r>
            <a:endParaRPr lang="it-IT" dirty="0">
              <a:solidFill>
                <a:schemeClr val="lt1"/>
              </a:solidFill>
              <a:latin typeface="Montserrat"/>
              <a:sym typeface="Montserrat"/>
            </a:endParaRPr>
          </a:p>
        </p:txBody>
      </p:sp>
      <p:pic>
        <p:nvPicPr>
          <p:cNvPr id="15" name="Elemento grafico 14" descr="Database contorno">
            <a:extLst>
              <a:ext uri="{FF2B5EF4-FFF2-40B4-BE49-F238E27FC236}">
                <a16:creationId xmlns:a16="http://schemas.microsoft.com/office/drawing/2014/main" id="{7E96495E-C457-8BAD-C973-AA5D2BA013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9561" y="1818370"/>
            <a:ext cx="3003393" cy="300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02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>
          <a:extLst>
            <a:ext uri="{FF2B5EF4-FFF2-40B4-BE49-F238E27FC236}">
              <a16:creationId xmlns:a16="http://schemas.microsoft.com/office/drawing/2014/main" id="{E9240046-DB7B-C2B6-F44F-B220AE86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57">
            <a:extLst>
              <a:ext uri="{FF2B5EF4-FFF2-40B4-BE49-F238E27FC236}">
                <a16:creationId xmlns:a16="http://schemas.microsoft.com/office/drawing/2014/main" id="{F89EBA56-B19C-BC9A-E2EB-DDBEFB9387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WORKFLOW ASSEGNAZIONE</a:t>
            </a:r>
            <a:endParaRPr dirty="0"/>
          </a:p>
        </p:txBody>
      </p:sp>
      <p:sp>
        <p:nvSpPr>
          <p:cNvPr id="1994" name="Google Shape;1994;p57">
            <a:extLst>
              <a:ext uri="{FF2B5EF4-FFF2-40B4-BE49-F238E27FC236}">
                <a16:creationId xmlns:a16="http://schemas.microsoft.com/office/drawing/2014/main" id="{F8C58202-018A-B030-73A7-994616E80F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2793" y="1276457"/>
            <a:ext cx="4076446" cy="36746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>
              <a:buFont typeface="+mj-lt"/>
              <a:buAutoNum type="alphaUcPeriod"/>
            </a:pPr>
            <a:r>
              <a:rPr lang="it-IT" dirty="0"/>
              <a:t>L’utente amministratore clicca su «Assegna Issue»</a:t>
            </a:r>
            <a:endParaRPr dirty="0"/>
          </a:p>
          <a:p>
            <a:pPr marL="482600" lvl="0" indent="-342900" algn="l" rtl="0">
              <a:spcBef>
                <a:spcPts val="1000"/>
              </a:spcBef>
              <a:spcAft>
                <a:spcPts val="0"/>
              </a:spcAft>
              <a:buSzPts val="1400"/>
              <a:buFont typeface="+mj-lt"/>
              <a:buAutoNum type="alphaUcPeriod"/>
            </a:pPr>
            <a:r>
              <a:rPr lang="it-IT" dirty="0"/>
              <a:t>Il sistema consiglia l’utente che ha il carico di lavoro più basso e mostra una lista di utenti </a:t>
            </a:r>
            <a:r>
              <a:rPr lang="it-IT" i="1" dirty="0"/>
              <a:t>attivi</a:t>
            </a:r>
            <a:r>
              <a:rPr lang="it-IT" dirty="0"/>
              <a:t> ordinati in base al carico di lavoro</a:t>
            </a:r>
            <a:endParaRPr dirty="0"/>
          </a:p>
          <a:p>
            <a:pPr marL="482600" lvl="0" indent="-342900">
              <a:spcBef>
                <a:spcPts val="1000"/>
              </a:spcBef>
              <a:buFont typeface="+mj-lt"/>
              <a:buAutoNum type="alphaUcPeriod"/>
            </a:pPr>
            <a:r>
              <a:rPr lang="it-IT" dirty="0"/>
              <a:t>L’admin seleziona una issue dal menù a tendina e un utente tra quelli presenti nella lista</a:t>
            </a:r>
          </a:p>
          <a:p>
            <a:pPr marL="482600" lvl="0" indent="-342900">
              <a:spcBef>
                <a:spcPts val="1000"/>
              </a:spcBef>
              <a:buFont typeface="+mj-lt"/>
              <a:buAutoNum type="alphaUcPeriod"/>
            </a:pPr>
            <a:r>
              <a:rPr lang="it-IT" dirty="0"/>
              <a:t>All’utente a cui è stata assegnata la issue viene inviata una notifica, visualizzabile nella propria sezione «Notifiche»</a:t>
            </a:r>
          </a:p>
        </p:txBody>
      </p:sp>
      <p:cxnSp>
        <p:nvCxnSpPr>
          <p:cNvPr id="1998" name="Google Shape;1998;p57">
            <a:extLst>
              <a:ext uri="{FF2B5EF4-FFF2-40B4-BE49-F238E27FC236}">
                <a16:creationId xmlns:a16="http://schemas.microsoft.com/office/drawing/2014/main" id="{D214E15E-881F-BDD9-A3B0-FCF312529CCE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Ovale 7">
            <a:extLst>
              <a:ext uri="{FF2B5EF4-FFF2-40B4-BE49-F238E27FC236}">
                <a16:creationId xmlns:a16="http://schemas.microsoft.com/office/drawing/2014/main" id="{1606787F-93F0-E5E2-BAAD-D5C93D7F7A19}"/>
              </a:ext>
            </a:extLst>
          </p:cNvPr>
          <p:cNvSpPr/>
          <p:nvPr/>
        </p:nvSpPr>
        <p:spPr>
          <a:xfrm>
            <a:off x="6980662" y="351377"/>
            <a:ext cx="344696" cy="2881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40E5EE7B-8AF1-949F-A213-C16B1EF4B5AD}"/>
              </a:ext>
            </a:extLst>
          </p:cNvPr>
          <p:cNvSpPr/>
          <p:nvPr/>
        </p:nvSpPr>
        <p:spPr>
          <a:xfrm>
            <a:off x="6246129" y="867680"/>
            <a:ext cx="1818703" cy="2039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Click su «Assegna Issue»</a:t>
            </a:r>
          </a:p>
        </p:txBody>
      </p:sp>
      <p:sp>
        <p:nvSpPr>
          <p:cNvPr id="10" name="Rombo 9">
            <a:extLst>
              <a:ext uri="{FF2B5EF4-FFF2-40B4-BE49-F238E27FC236}">
                <a16:creationId xmlns:a16="http://schemas.microsoft.com/office/drawing/2014/main" id="{F4D182A2-164D-A4AE-0BE4-335E7676ABC0}"/>
              </a:ext>
            </a:extLst>
          </p:cNvPr>
          <p:cNvSpPr/>
          <p:nvPr/>
        </p:nvSpPr>
        <p:spPr>
          <a:xfrm>
            <a:off x="6208957" y="1330921"/>
            <a:ext cx="1888105" cy="665355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Utente e issue selezionate?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30BA3188-0FF5-638C-109C-680A49B3A1DD}"/>
              </a:ext>
            </a:extLst>
          </p:cNvPr>
          <p:cNvSpPr/>
          <p:nvPr/>
        </p:nvSpPr>
        <p:spPr>
          <a:xfrm>
            <a:off x="4672330" y="1916793"/>
            <a:ext cx="1472303" cy="225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Effettua assegnazione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AED204A5-F51E-3047-E26D-511C44002C2A}"/>
              </a:ext>
            </a:extLst>
          </p:cNvPr>
          <p:cNvSpPr/>
          <p:nvPr/>
        </p:nvSpPr>
        <p:spPr>
          <a:xfrm>
            <a:off x="4851400" y="2421795"/>
            <a:ext cx="1121377" cy="225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Aggiorna stato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C8A2325-8517-8536-9CF3-676A70C96A37}"/>
              </a:ext>
            </a:extLst>
          </p:cNvPr>
          <p:cNvSpPr/>
          <p:nvPr/>
        </p:nvSpPr>
        <p:spPr>
          <a:xfrm>
            <a:off x="4817397" y="2861930"/>
            <a:ext cx="1193647" cy="70987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99F3E22D-F46C-1150-302C-783EB13D9F66}"/>
              </a:ext>
            </a:extLst>
          </p:cNvPr>
          <p:cNvSpPr/>
          <p:nvPr/>
        </p:nvSpPr>
        <p:spPr>
          <a:xfrm>
            <a:off x="4143980" y="3290490"/>
            <a:ext cx="1193647" cy="1937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Pubblica evento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D56176A-290C-9534-4A8B-E2874C1BADF4}"/>
              </a:ext>
            </a:extLst>
          </p:cNvPr>
          <p:cNvSpPr/>
          <p:nvPr/>
        </p:nvSpPr>
        <p:spPr>
          <a:xfrm>
            <a:off x="4067863" y="3727999"/>
            <a:ext cx="1339881" cy="1937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/>
              <a:t>Commit</a:t>
            </a:r>
            <a:r>
              <a:rPr lang="it-IT" sz="1000" dirty="0"/>
              <a:t> transazione</a:t>
            </a:r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F5856E8D-7F51-5113-574F-850BCE82257F}"/>
              </a:ext>
            </a:extLst>
          </p:cNvPr>
          <p:cNvGrpSpPr/>
          <p:nvPr/>
        </p:nvGrpSpPr>
        <p:grpSpPr>
          <a:xfrm>
            <a:off x="4568578" y="4304467"/>
            <a:ext cx="344449" cy="300226"/>
            <a:chOff x="4898111" y="4574034"/>
            <a:chExt cx="344449" cy="300226"/>
          </a:xfrm>
        </p:grpSpPr>
        <p:sp>
          <p:nvSpPr>
            <p:cNvPr id="27" name="Ovale 26">
              <a:extLst>
                <a:ext uri="{FF2B5EF4-FFF2-40B4-BE49-F238E27FC236}">
                  <a16:creationId xmlns:a16="http://schemas.microsoft.com/office/drawing/2014/main" id="{2ACD9E6E-0F5C-6362-658D-C25770484EA5}"/>
                </a:ext>
              </a:extLst>
            </p:cNvPr>
            <p:cNvSpPr/>
            <p:nvPr/>
          </p:nvSpPr>
          <p:spPr>
            <a:xfrm>
              <a:off x="4898111" y="4574034"/>
              <a:ext cx="344449" cy="30022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8" name="Ovale 27">
              <a:extLst>
                <a:ext uri="{FF2B5EF4-FFF2-40B4-BE49-F238E27FC236}">
                  <a16:creationId xmlns:a16="http://schemas.microsoft.com/office/drawing/2014/main" id="{4C2CACD2-570C-67F2-FF42-B8F8A73001B7}"/>
                </a:ext>
              </a:extLst>
            </p:cNvPr>
            <p:cNvSpPr/>
            <p:nvPr/>
          </p:nvSpPr>
          <p:spPr>
            <a:xfrm>
              <a:off x="4983480" y="4645660"/>
              <a:ext cx="171244" cy="16174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24CED56E-DE40-C765-D22C-A4926B68BB9C}"/>
              </a:ext>
            </a:extLst>
          </p:cNvPr>
          <p:cNvSpPr/>
          <p:nvPr/>
        </p:nvSpPr>
        <p:spPr>
          <a:xfrm>
            <a:off x="5873719" y="3294604"/>
            <a:ext cx="1193647" cy="1937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Riceve evento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CE16CA59-B6E5-2C0E-062B-E7601FDF4E08}"/>
              </a:ext>
            </a:extLst>
          </p:cNvPr>
          <p:cNvSpPr/>
          <p:nvPr/>
        </p:nvSpPr>
        <p:spPr>
          <a:xfrm>
            <a:off x="5873719" y="3676222"/>
            <a:ext cx="1193647" cy="1937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Crea la notifica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84495D5B-D06F-C389-5F3C-458C64EED251}"/>
              </a:ext>
            </a:extLst>
          </p:cNvPr>
          <p:cNvSpPr/>
          <p:nvPr/>
        </p:nvSpPr>
        <p:spPr>
          <a:xfrm>
            <a:off x="5789171" y="4057840"/>
            <a:ext cx="1362741" cy="1937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/>
              <a:t>Commit</a:t>
            </a:r>
            <a:r>
              <a:rPr lang="it-IT" sz="1000" dirty="0"/>
              <a:t> transazione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1106972D-6D3F-8EC1-AA22-6B69ABE04903}"/>
              </a:ext>
            </a:extLst>
          </p:cNvPr>
          <p:cNvSpPr/>
          <p:nvPr/>
        </p:nvSpPr>
        <p:spPr>
          <a:xfrm>
            <a:off x="5873719" y="4466100"/>
            <a:ext cx="1193647" cy="1937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Invio notifica</a:t>
            </a:r>
          </a:p>
        </p:txBody>
      </p: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247170DD-9A2D-8E0E-0B62-72E5244E2C94}"/>
              </a:ext>
            </a:extLst>
          </p:cNvPr>
          <p:cNvGrpSpPr/>
          <p:nvPr/>
        </p:nvGrpSpPr>
        <p:grpSpPr>
          <a:xfrm>
            <a:off x="7924837" y="4407019"/>
            <a:ext cx="344449" cy="300226"/>
            <a:chOff x="4898111" y="4574034"/>
            <a:chExt cx="344449" cy="300226"/>
          </a:xfrm>
        </p:grpSpPr>
        <p:sp>
          <p:nvSpPr>
            <p:cNvPr id="39" name="Ovale 38">
              <a:extLst>
                <a:ext uri="{FF2B5EF4-FFF2-40B4-BE49-F238E27FC236}">
                  <a16:creationId xmlns:a16="http://schemas.microsoft.com/office/drawing/2014/main" id="{9DA0F8BB-E2CC-9E4B-C1C3-38DE282A799A}"/>
                </a:ext>
              </a:extLst>
            </p:cNvPr>
            <p:cNvSpPr/>
            <p:nvPr/>
          </p:nvSpPr>
          <p:spPr>
            <a:xfrm>
              <a:off x="4898111" y="4574034"/>
              <a:ext cx="344449" cy="30022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0" name="Ovale 39">
              <a:extLst>
                <a:ext uri="{FF2B5EF4-FFF2-40B4-BE49-F238E27FC236}">
                  <a16:creationId xmlns:a16="http://schemas.microsoft.com/office/drawing/2014/main" id="{761D8A26-7525-0B89-E08D-8101B2F4695B}"/>
                </a:ext>
              </a:extLst>
            </p:cNvPr>
            <p:cNvSpPr/>
            <p:nvPr/>
          </p:nvSpPr>
          <p:spPr>
            <a:xfrm>
              <a:off x="4983480" y="4645660"/>
              <a:ext cx="171244" cy="16174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21EC929B-A1E8-7552-68CB-31DA88E0FD4F}"/>
              </a:ext>
            </a:extLst>
          </p:cNvPr>
          <p:cNvSpPr/>
          <p:nvPr/>
        </p:nvSpPr>
        <p:spPr>
          <a:xfrm>
            <a:off x="7537450" y="2153898"/>
            <a:ext cx="1487170" cy="439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Visualizza messaggio di errore</a:t>
            </a:r>
          </a:p>
        </p:txBody>
      </p: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139A6F2B-3DB7-89AE-7889-C93208BB141B}"/>
              </a:ext>
            </a:extLst>
          </p:cNvPr>
          <p:cNvGrpSpPr/>
          <p:nvPr/>
        </p:nvGrpSpPr>
        <p:grpSpPr>
          <a:xfrm>
            <a:off x="8108810" y="3236272"/>
            <a:ext cx="344449" cy="300226"/>
            <a:chOff x="4898111" y="4574034"/>
            <a:chExt cx="344449" cy="300226"/>
          </a:xfrm>
        </p:grpSpPr>
        <p:sp>
          <p:nvSpPr>
            <p:cNvPr id="44" name="Ovale 43">
              <a:extLst>
                <a:ext uri="{FF2B5EF4-FFF2-40B4-BE49-F238E27FC236}">
                  <a16:creationId xmlns:a16="http://schemas.microsoft.com/office/drawing/2014/main" id="{5B2C6BBD-0C10-9D36-2D35-0DE77F317341}"/>
                </a:ext>
              </a:extLst>
            </p:cNvPr>
            <p:cNvSpPr/>
            <p:nvPr/>
          </p:nvSpPr>
          <p:spPr>
            <a:xfrm>
              <a:off x="4898111" y="4574034"/>
              <a:ext cx="344449" cy="30022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5" name="Ovale 44">
              <a:extLst>
                <a:ext uri="{FF2B5EF4-FFF2-40B4-BE49-F238E27FC236}">
                  <a16:creationId xmlns:a16="http://schemas.microsoft.com/office/drawing/2014/main" id="{698D4C44-0B51-F1BD-324B-A0F217ABB585}"/>
                </a:ext>
              </a:extLst>
            </p:cNvPr>
            <p:cNvSpPr/>
            <p:nvPr/>
          </p:nvSpPr>
          <p:spPr>
            <a:xfrm>
              <a:off x="4983480" y="4645660"/>
              <a:ext cx="171244" cy="16174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FAB080C1-EDCF-CCEC-69F6-DF147291194E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7153010" y="639572"/>
            <a:ext cx="2471" cy="228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8792B797-9160-A549-2D46-5081C46C2D6F}"/>
              </a:ext>
            </a:extLst>
          </p:cNvPr>
          <p:cNvCxnSpPr/>
          <p:nvPr/>
        </p:nvCxnSpPr>
        <p:spPr>
          <a:xfrm>
            <a:off x="7153010" y="1080544"/>
            <a:ext cx="2471" cy="228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a gomito 50">
            <a:extLst>
              <a:ext uri="{FF2B5EF4-FFF2-40B4-BE49-F238E27FC236}">
                <a16:creationId xmlns:a16="http://schemas.microsoft.com/office/drawing/2014/main" id="{A1DABA3E-DCF8-4223-098E-6A64EAB05A57}"/>
              </a:ext>
            </a:extLst>
          </p:cNvPr>
          <p:cNvCxnSpPr>
            <a:stCxn id="10" idx="1"/>
            <a:endCxn id="12" idx="0"/>
          </p:cNvCxnSpPr>
          <p:nvPr/>
        </p:nvCxnSpPr>
        <p:spPr>
          <a:xfrm rot="10800000" flipV="1">
            <a:off x="5408483" y="1663599"/>
            <a:ext cx="800475" cy="2531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a gomito 52">
            <a:extLst>
              <a:ext uri="{FF2B5EF4-FFF2-40B4-BE49-F238E27FC236}">
                <a16:creationId xmlns:a16="http://schemas.microsoft.com/office/drawing/2014/main" id="{7483CB4A-E350-2DC1-D1A9-7CB0E399D9BD}"/>
              </a:ext>
            </a:extLst>
          </p:cNvPr>
          <p:cNvCxnSpPr>
            <a:stCxn id="10" idx="3"/>
            <a:endCxn id="42" idx="0"/>
          </p:cNvCxnSpPr>
          <p:nvPr/>
        </p:nvCxnSpPr>
        <p:spPr>
          <a:xfrm>
            <a:off x="8097062" y="1663599"/>
            <a:ext cx="183973" cy="4902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19C9A8DA-5D9B-8B50-B6C5-F81B0141DCE1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>
            <a:off x="5408482" y="2142611"/>
            <a:ext cx="3607" cy="279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32AFC351-0242-71AA-99F2-15018F37CBC1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412089" y="2647613"/>
            <a:ext cx="2132" cy="201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0" name="Connettore a gomito 1989">
            <a:extLst>
              <a:ext uri="{FF2B5EF4-FFF2-40B4-BE49-F238E27FC236}">
                <a16:creationId xmlns:a16="http://schemas.microsoft.com/office/drawing/2014/main" id="{10073E00-AB63-99DC-5837-756B907D7F40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rot="5400000">
            <a:off x="4898727" y="2774995"/>
            <a:ext cx="357573" cy="6734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9" name="Connettore a gomito 1998">
            <a:extLst>
              <a:ext uri="{FF2B5EF4-FFF2-40B4-BE49-F238E27FC236}">
                <a16:creationId xmlns:a16="http://schemas.microsoft.com/office/drawing/2014/main" id="{BBBD4DBA-2F01-CE33-D342-9219E88747B0}"/>
              </a:ext>
            </a:extLst>
          </p:cNvPr>
          <p:cNvCxnSpPr>
            <a:cxnSpLocks/>
            <a:stCxn id="19" idx="2"/>
            <a:endCxn id="31" idx="0"/>
          </p:cNvCxnSpPr>
          <p:nvPr/>
        </p:nvCxnSpPr>
        <p:spPr>
          <a:xfrm rot="16200000" flipH="1">
            <a:off x="5761539" y="2585599"/>
            <a:ext cx="361687" cy="10563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4" name="Connettore 2 2003">
            <a:extLst>
              <a:ext uri="{FF2B5EF4-FFF2-40B4-BE49-F238E27FC236}">
                <a16:creationId xmlns:a16="http://schemas.microsoft.com/office/drawing/2014/main" id="{86B367E8-DC1B-BCCA-A64E-8134542B892F}"/>
              </a:ext>
            </a:extLst>
          </p:cNvPr>
          <p:cNvCxnSpPr>
            <a:stCxn id="21" idx="2"/>
            <a:endCxn id="23" idx="0"/>
          </p:cNvCxnSpPr>
          <p:nvPr/>
        </p:nvCxnSpPr>
        <p:spPr>
          <a:xfrm flipH="1">
            <a:off x="4737804" y="3484279"/>
            <a:ext cx="3000" cy="243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7" name="Connettore 2 2006">
            <a:extLst>
              <a:ext uri="{FF2B5EF4-FFF2-40B4-BE49-F238E27FC236}">
                <a16:creationId xmlns:a16="http://schemas.microsoft.com/office/drawing/2014/main" id="{64C9C585-1E19-C01B-B905-2C116A10EBEC}"/>
              </a:ext>
            </a:extLst>
          </p:cNvPr>
          <p:cNvCxnSpPr>
            <a:stCxn id="23" idx="2"/>
            <a:endCxn id="27" idx="0"/>
          </p:cNvCxnSpPr>
          <p:nvPr/>
        </p:nvCxnSpPr>
        <p:spPr>
          <a:xfrm>
            <a:off x="4737804" y="3921788"/>
            <a:ext cx="2999" cy="382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9" name="Connettore 2 2008">
            <a:extLst>
              <a:ext uri="{FF2B5EF4-FFF2-40B4-BE49-F238E27FC236}">
                <a16:creationId xmlns:a16="http://schemas.microsoft.com/office/drawing/2014/main" id="{EDE90CE6-7AB7-881F-7FF4-17CCFD03C5C8}"/>
              </a:ext>
            </a:extLst>
          </p:cNvPr>
          <p:cNvCxnSpPr>
            <a:stCxn id="31" idx="2"/>
            <a:endCxn id="33" idx="0"/>
          </p:cNvCxnSpPr>
          <p:nvPr/>
        </p:nvCxnSpPr>
        <p:spPr>
          <a:xfrm>
            <a:off x="6470543" y="3488393"/>
            <a:ext cx="0" cy="187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1" name="Connettore 2 2010">
            <a:extLst>
              <a:ext uri="{FF2B5EF4-FFF2-40B4-BE49-F238E27FC236}">
                <a16:creationId xmlns:a16="http://schemas.microsoft.com/office/drawing/2014/main" id="{3802A730-5BFE-DB1D-DF86-DF563B981160}"/>
              </a:ext>
            </a:extLst>
          </p:cNvPr>
          <p:cNvCxnSpPr>
            <a:stCxn id="33" idx="2"/>
            <a:endCxn id="35" idx="0"/>
          </p:cNvCxnSpPr>
          <p:nvPr/>
        </p:nvCxnSpPr>
        <p:spPr>
          <a:xfrm flipH="1">
            <a:off x="6470542" y="3870011"/>
            <a:ext cx="1" cy="187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4" name="Connettore 2 2013">
            <a:extLst>
              <a:ext uri="{FF2B5EF4-FFF2-40B4-BE49-F238E27FC236}">
                <a16:creationId xmlns:a16="http://schemas.microsoft.com/office/drawing/2014/main" id="{9084EDE5-3197-3FC6-9D42-BA30299E0AD3}"/>
              </a:ext>
            </a:extLst>
          </p:cNvPr>
          <p:cNvCxnSpPr>
            <a:stCxn id="35" idx="2"/>
            <a:endCxn id="37" idx="0"/>
          </p:cNvCxnSpPr>
          <p:nvPr/>
        </p:nvCxnSpPr>
        <p:spPr>
          <a:xfrm>
            <a:off x="6470542" y="4251629"/>
            <a:ext cx="1" cy="214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7" name="Connettore 2 2016">
            <a:extLst>
              <a:ext uri="{FF2B5EF4-FFF2-40B4-BE49-F238E27FC236}">
                <a16:creationId xmlns:a16="http://schemas.microsoft.com/office/drawing/2014/main" id="{4473E922-4F85-0543-7EB9-B68CEEF89F24}"/>
              </a:ext>
            </a:extLst>
          </p:cNvPr>
          <p:cNvCxnSpPr>
            <a:stCxn id="37" idx="3"/>
            <a:endCxn id="39" idx="2"/>
          </p:cNvCxnSpPr>
          <p:nvPr/>
        </p:nvCxnSpPr>
        <p:spPr>
          <a:xfrm flipV="1">
            <a:off x="7067366" y="4557132"/>
            <a:ext cx="857471" cy="5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9" name="Connettore 2 2018">
            <a:extLst>
              <a:ext uri="{FF2B5EF4-FFF2-40B4-BE49-F238E27FC236}">
                <a16:creationId xmlns:a16="http://schemas.microsoft.com/office/drawing/2014/main" id="{3DF80854-CC38-E443-601A-1D8C1F1C6713}"/>
              </a:ext>
            </a:extLst>
          </p:cNvPr>
          <p:cNvCxnSpPr>
            <a:stCxn id="42" idx="2"/>
            <a:endCxn id="44" idx="0"/>
          </p:cNvCxnSpPr>
          <p:nvPr/>
        </p:nvCxnSpPr>
        <p:spPr>
          <a:xfrm>
            <a:off x="8281035" y="2593340"/>
            <a:ext cx="0" cy="642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2FE8581-4CDE-8B3C-5C44-CBF4D6E50E6E}"/>
              </a:ext>
            </a:extLst>
          </p:cNvPr>
          <p:cNvSpPr txBox="1"/>
          <p:nvPr/>
        </p:nvSpPr>
        <p:spPr>
          <a:xfrm>
            <a:off x="5494210" y="1346175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si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18B71BE-DEAB-B333-CE78-76B6DB887C71}"/>
              </a:ext>
            </a:extLst>
          </p:cNvPr>
          <p:cNvSpPr txBox="1"/>
          <p:nvPr/>
        </p:nvSpPr>
        <p:spPr>
          <a:xfrm>
            <a:off x="8064832" y="134617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4125520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D655EB8C-DB01-C674-BF10-68936957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5BB7991C-13FD-0126-435E-D4EF2823CC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3000" y="3110843"/>
            <a:ext cx="5463103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ATTIVITA’ DI TESTING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889190B7-C8BC-B2D0-68EF-B91565FF5B7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8601" y="3220593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08" name="Google Shape;208;p43">
            <a:extLst>
              <a:ext uri="{FF2B5EF4-FFF2-40B4-BE49-F238E27FC236}">
                <a16:creationId xmlns:a16="http://schemas.microsoft.com/office/drawing/2014/main" id="{B511AAB5-D623-F52A-F599-FECEEAC6446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43001" y="3653743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it-IT" dirty="0"/>
              <a:t>Presentazione degli Unit Test eseguiti</a:t>
            </a:r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65023512-0C74-40D0-1662-A8ACB4FD016A}"/>
              </a:ext>
            </a:extLst>
          </p:cNvPr>
          <p:cNvCxnSpPr/>
          <p:nvPr/>
        </p:nvCxnSpPr>
        <p:spPr>
          <a:xfrm>
            <a:off x="3291081" y="3186390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77862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DF8C733B-2B7D-5A21-9D5B-99DFD14A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>
            <a:extLst>
              <a:ext uri="{FF2B5EF4-FFF2-40B4-BE49-F238E27FC236}">
                <a16:creationId xmlns:a16="http://schemas.microsoft.com/office/drawing/2014/main" id="{298F73C7-BFBE-567A-266C-33EF976DA836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ATTIVITA’ DI TESTING</a:t>
            </a:r>
            <a:endParaRPr dirty="0"/>
          </a:p>
        </p:txBody>
      </p:sp>
      <p:cxnSp>
        <p:nvCxnSpPr>
          <p:cNvPr id="234" name="Google Shape;234;p46">
            <a:extLst>
              <a:ext uri="{FF2B5EF4-FFF2-40B4-BE49-F238E27FC236}">
                <a16:creationId xmlns:a16="http://schemas.microsoft.com/office/drawing/2014/main" id="{75793454-451B-5914-7401-68865E1C1871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35" name="Google Shape;235;p46">
            <a:extLst>
              <a:ext uri="{FF2B5EF4-FFF2-40B4-BE49-F238E27FC236}">
                <a16:creationId xmlns:a16="http://schemas.microsoft.com/office/drawing/2014/main" id="{7780BE77-BF84-98B4-F868-EF6D111722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6101" y="2348697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BLACKBOX</a:t>
            </a:r>
            <a:endParaRPr dirty="0"/>
          </a:p>
        </p:txBody>
      </p:sp>
      <p:sp>
        <p:nvSpPr>
          <p:cNvPr id="236" name="Google Shape;236;p46">
            <a:extLst>
              <a:ext uri="{FF2B5EF4-FFF2-40B4-BE49-F238E27FC236}">
                <a16:creationId xmlns:a16="http://schemas.microsoft.com/office/drawing/2014/main" id="{D3144086-DFCC-1169-678F-081431654FD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81841" y="3120018"/>
            <a:ext cx="3415436" cy="13308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it-IT" sz="1200" b="1" dirty="0"/>
              <a:t>Strategia</a:t>
            </a:r>
            <a:r>
              <a:rPr lang="it-IT" sz="1200" dirty="0"/>
              <a:t>: </a:t>
            </a:r>
            <a:r>
              <a:rPr lang="it-IT" sz="1200" dirty="0" err="1"/>
              <a:t>Equivalence</a:t>
            </a:r>
            <a:r>
              <a:rPr lang="it-IT" sz="1200" dirty="0"/>
              <a:t> Class </a:t>
            </a:r>
            <a:r>
              <a:rPr lang="it-IT" sz="1200" dirty="0" err="1"/>
              <a:t>Partitioning</a:t>
            </a:r>
            <a:r>
              <a:rPr lang="it-IT" sz="1200" dirty="0"/>
              <a:t> (ECP) + </a:t>
            </a:r>
            <a:r>
              <a:rPr lang="it-IT" sz="1200" dirty="0" err="1"/>
              <a:t>Each</a:t>
            </a:r>
            <a:r>
              <a:rPr lang="it-IT" sz="1200" dirty="0"/>
              <a:t> Choice Coverage + </a:t>
            </a:r>
            <a:r>
              <a:rPr lang="it-IT" sz="1200" dirty="0" err="1"/>
              <a:t>Boundary</a:t>
            </a:r>
            <a:r>
              <a:rPr lang="it-IT" sz="1200" dirty="0"/>
              <a:t> Value Analysis (BVA)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bg1"/>
                </a:solidFill>
              </a:rPr>
              <a:t>Classi di equivalenza definite per ogni parametro</a:t>
            </a:r>
          </a:p>
        </p:txBody>
      </p:sp>
      <p:sp>
        <p:nvSpPr>
          <p:cNvPr id="237" name="Google Shape;237;p46">
            <a:extLst>
              <a:ext uri="{FF2B5EF4-FFF2-40B4-BE49-F238E27FC236}">
                <a16:creationId xmlns:a16="http://schemas.microsoft.com/office/drawing/2014/main" id="{67E5CE0C-1BD3-65AD-BDB7-693CF6F8F87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413022" y="23746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WHITEBOX</a:t>
            </a:r>
            <a:endParaRPr dirty="0"/>
          </a:p>
        </p:txBody>
      </p:sp>
      <p:sp>
        <p:nvSpPr>
          <p:cNvPr id="238" name="Google Shape;238;p46">
            <a:extLst>
              <a:ext uri="{FF2B5EF4-FFF2-40B4-BE49-F238E27FC236}">
                <a16:creationId xmlns:a16="http://schemas.microsoft.com/office/drawing/2014/main" id="{E2575C7E-A30A-7279-FE83-D4586782B51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152495" y="3119300"/>
            <a:ext cx="2588036" cy="16757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it-IT" sz="1200" b="1" dirty="0"/>
              <a:t>Branch coverage</a:t>
            </a:r>
            <a:r>
              <a:rPr lang="it-IT" sz="1200" dirty="0"/>
              <a:t>: analizzati i punti di decisione reali del metodo (es. i due </a:t>
            </a:r>
            <a:r>
              <a:rPr lang="it-IT" sz="1200" dirty="0" err="1"/>
              <a:t>orElseThrow</a:t>
            </a:r>
            <a:r>
              <a:rPr lang="it-IT" sz="1200" dirty="0"/>
              <a:t> in </a:t>
            </a:r>
            <a:r>
              <a:rPr lang="it-IT" sz="1200" dirty="0" err="1"/>
              <a:t>assignIssue</a:t>
            </a:r>
            <a:r>
              <a:rPr lang="it-IT" sz="1200" dirty="0"/>
              <a:t>)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it-IT" sz="1200" b="1" dirty="0"/>
              <a:t>100% </a:t>
            </a:r>
            <a:r>
              <a:rPr lang="it-IT" sz="1200" b="1" dirty="0" err="1"/>
              <a:t>branch</a:t>
            </a:r>
            <a:r>
              <a:rPr lang="it-IT" sz="1200" b="1" dirty="0"/>
              <a:t> coverage</a:t>
            </a:r>
            <a:r>
              <a:rPr lang="it-IT" sz="1200" dirty="0"/>
              <a:t> raggiunto sui metodi testati</a:t>
            </a:r>
            <a:endParaRPr sz="1200" dirty="0"/>
          </a:p>
        </p:txBody>
      </p:sp>
      <p:sp>
        <p:nvSpPr>
          <p:cNvPr id="239" name="Google Shape;239;p46">
            <a:extLst>
              <a:ext uri="{FF2B5EF4-FFF2-40B4-BE49-F238E27FC236}">
                <a16:creationId xmlns:a16="http://schemas.microsoft.com/office/drawing/2014/main" id="{1A6CD603-8897-BD0B-07E5-7B84950AC009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557745" y="23746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FRAMEWORK</a:t>
            </a:r>
            <a:endParaRPr dirty="0"/>
          </a:p>
        </p:txBody>
      </p:sp>
      <p:sp>
        <p:nvSpPr>
          <p:cNvPr id="240" name="Google Shape;240;p46">
            <a:extLst>
              <a:ext uri="{FF2B5EF4-FFF2-40B4-BE49-F238E27FC236}">
                <a16:creationId xmlns:a16="http://schemas.microsoft.com/office/drawing/2014/main" id="{C081556A-DDC5-2B62-D6E8-2B520BBBC766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283902" y="3145995"/>
            <a:ext cx="2528149" cy="1034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b="1" dirty="0"/>
              <a:t>J</a:t>
            </a:r>
            <a:r>
              <a:rPr lang="it-IT" sz="1200" b="1" dirty="0"/>
              <a:t>U</a:t>
            </a:r>
            <a:r>
              <a:rPr lang="en" sz="1200" b="1" dirty="0"/>
              <a:t>nit 5 </a:t>
            </a:r>
            <a:r>
              <a:rPr lang="en" sz="1200" dirty="0"/>
              <a:t>(test runner, asserzioni)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b="1" dirty="0"/>
              <a:t>Mockito </a:t>
            </a:r>
            <a:r>
              <a:rPr lang="en" sz="1200" dirty="0"/>
              <a:t>(mocking delle dipendenze)</a:t>
            </a:r>
            <a:endParaRPr sz="1200" dirty="0"/>
          </a:p>
        </p:txBody>
      </p:sp>
      <p:cxnSp>
        <p:nvCxnSpPr>
          <p:cNvPr id="241" name="Google Shape;241;p46">
            <a:extLst>
              <a:ext uri="{FF2B5EF4-FFF2-40B4-BE49-F238E27FC236}">
                <a16:creationId xmlns:a16="http://schemas.microsoft.com/office/drawing/2014/main" id="{A46DE8AB-7F4E-72A8-645C-C182FC5F811E}"/>
              </a:ext>
            </a:extLst>
          </p:cNvPr>
          <p:cNvCxnSpPr>
            <a:cxnSpLocks/>
          </p:cNvCxnSpPr>
          <p:nvPr/>
        </p:nvCxnSpPr>
        <p:spPr>
          <a:xfrm>
            <a:off x="4243701" y="2969620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2" name="Google Shape;242;p46">
            <a:extLst>
              <a:ext uri="{FF2B5EF4-FFF2-40B4-BE49-F238E27FC236}">
                <a16:creationId xmlns:a16="http://schemas.microsoft.com/office/drawing/2014/main" id="{89CF280A-EBC9-E0B1-2660-40A579CFAD1C}"/>
              </a:ext>
            </a:extLst>
          </p:cNvPr>
          <p:cNvCxnSpPr>
            <a:cxnSpLocks/>
          </p:cNvCxnSpPr>
          <p:nvPr/>
        </p:nvCxnSpPr>
        <p:spPr>
          <a:xfrm>
            <a:off x="7310619" y="29955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3" name="Google Shape;243;p46">
            <a:extLst>
              <a:ext uri="{FF2B5EF4-FFF2-40B4-BE49-F238E27FC236}">
                <a16:creationId xmlns:a16="http://schemas.microsoft.com/office/drawing/2014/main" id="{1E47BD3B-26C6-4185-9C18-D6C6B45077E3}"/>
              </a:ext>
            </a:extLst>
          </p:cNvPr>
          <p:cNvCxnSpPr>
            <a:cxnSpLocks/>
          </p:cNvCxnSpPr>
          <p:nvPr/>
        </p:nvCxnSpPr>
        <p:spPr>
          <a:xfrm>
            <a:off x="1455348" y="29955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44" name="Google Shape;244;p46">
            <a:extLst>
              <a:ext uri="{FF2B5EF4-FFF2-40B4-BE49-F238E27FC236}">
                <a16:creationId xmlns:a16="http://schemas.microsoft.com/office/drawing/2014/main" id="{FBB73BFC-062E-6D8B-6D84-D5D37DD80096}"/>
              </a:ext>
            </a:extLst>
          </p:cNvPr>
          <p:cNvSpPr/>
          <p:nvPr/>
        </p:nvSpPr>
        <p:spPr>
          <a:xfrm>
            <a:off x="1248948" y="1493850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46">
            <a:extLst>
              <a:ext uri="{FF2B5EF4-FFF2-40B4-BE49-F238E27FC236}">
                <a16:creationId xmlns:a16="http://schemas.microsoft.com/office/drawing/2014/main" id="{AFF195F7-6233-BD2B-D21E-F7A2641CE059}"/>
              </a:ext>
            </a:extLst>
          </p:cNvPr>
          <p:cNvSpPr/>
          <p:nvPr/>
        </p:nvSpPr>
        <p:spPr>
          <a:xfrm>
            <a:off x="4037301" y="1467872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6">
            <a:extLst>
              <a:ext uri="{FF2B5EF4-FFF2-40B4-BE49-F238E27FC236}">
                <a16:creationId xmlns:a16="http://schemas.microsoft.com/office/drawing/2014/main" id="{33A39179-1F92-CC62-2D8E-FDDE4F9F0B1D}"/>
              </a:ext>
            </a:extLst>
          </p:cNvPr>
          <p:cNvSpPr/>
          <p:nvPr/>
        </p:nvSpPr>
        <p:spPr>
          <a:xfrm>
            <a:off x="7104219" y="1493850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Elemento grafico 8" descr="Scatola di imballaggio aperta con riempimento a tinta unita">
            <a:extLst>
              <a:ext uri="{FF2B5EF4-FFF2-40B4-BE49-F238E27FC236}">
                <a16:creationId xmlns:a16="http://schemas.microsoft.com/office/drawing/2014/main" id="{9918ABBA-4B06-E1CB-1BDC-4BDCC8313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015" y="1557652"/>
            <a:ext cx="556996" cy="556996"/>
          </a:xfrm>
          <a:prstGeom prst="rect">
            <a:avLst/>
          </a:prstGeom>
        </p:spPr>
      </p:pic>
      <p:pic>
        <p:nvPicPr>
          <p:cNvPr id="11" name="Elemento grafico 10" descr="Scatola con riempimento a tinta unita">
            <a:extLst>
              <a:ext uri="{FF2B5EF4-FFF2-40B4-BE49-F238E27FC236}">
                <a16:creationId xmlns:a16="http://schemas.microsoft.com/office/drawing/2014/main" id="{B70D03AD-EADD-DCF1-23AA-DBC5D04F5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5358" y="1540083"/>
            <a:ext cx="548401" cy="548401"/>
          </a:xfrm>
          <a:prstGeom prst="rect">
            <a:avLst/>
          </a:prstGeom>
        </p:spPr>
      </p:pic>
      <p:pic>
        <p:nvPicPr>
          <p:cNvPr id="12" name="Immagine 11" descr="Icona Gancio di Icongeek26 – scarica in PNG, SVG">
            <a:extLst>
              <a:ext uri="{FF2B5EF4-FFF2-40B4-BE49-F238E27FC236}">
                <a16:creationId xmlns:a16="http://schemas.microsoft.com/office/drawing/2014/main" id="{35E85697-4860-D244-1B80-79E62FF70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rot="13887243">
            <a:off x="1332631" y="1589032"/>
            <a:ext cx="514804" cy="51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87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F04E346B-A8F1-32E2-A13A-023E9D8DC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D093478A-4373-0D33-AE9F-00774CD34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0662" y="3386940"/>
            <a:ext cx="5463103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CONCLUSIONI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0BDA42F8-EE23-15BC-DD26-54A9BB545AE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8601" y="3220593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EXTRA</a:t>
            </a:r>
            <a:endParaRPr sz="4800"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7A173380-D6F6-F031-DAFF-231B2BB27E87}"/>
              </a:ext>
            </a:extLst>
          </p:cNvPr>
          <p:cNvCxnSpPr/>
          <p:nvPr/>
        </p:nvCxnSpPr>
        <p:spPr>
          <a:xfrm>
            <a:off x="3291081" y="3186390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82097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0">
          <a:extLst>
            <a:ext uri="{FF2B5EF4-FFF2-40B4-BE49-F238E27FC236}">
              <a16:creationId xmlns:a16="http://schemas.microsoft.com/office/drawing/2014/main" id="{C7B1102A-7CA1-82EF-5A6A-C22D67408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094D10A0-50F7-EADC-480D-3AD5622D07B2}"/>
              </a:ext>
            </a:extLst>
          </p:cNvPr>
          <p:cNvSpPr/>
          <p:nvPr/>
        </p:nvSpPr>
        <p:spPr>
          <a:xfrm>
            <a:off x="631902" y="327102"/>
            <a:ext cx="4364898" cy="1568605"/>
          </a:xfrm>
          <a:prstGeom prst="roundRect">
            <a:avLst/>
          </a:prstGeom>
          <a:solidFill>
            <a:srgbClr val="001633">
              <a:alpha val="4117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41" name="Google Shape;2041;p59">
            <a:extLst>
              <a:ext uri="{FF2B5EF4-FFF2-40B4-BE49-F238E27FC236}">
                <a16:creationId xmlns:a16="http://schemas.microsoft.com/office/drawing/2014/main" id="{AE4D3579-2C44-FA2D-974A-6FAF633F62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2453</a:t>
            </a:r>
            <a:endParaRPr dirty="0"/>
          </a:p>
        </p:txBody>
      </p:sp>
      <p:sp>
        <p:nvSpPr>
          <p:cNvPr id="2042" name="Google Shape;2042;p59">
            <a:extLst>
              <a:ext uri="{FF2B5EF4-FFF2-40B4-BE49-F238E27FC236}">
                <a16:creationId xmlns:a16="http://schemas.microsoft.com/office/drawing/2014/main" id="{6D4E5E30-FE10-5144-0AE5-4306388B939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Righe di codice scansionate</a:t>
            </a:r>
            <a:endParaRPr dirty="0"/>
          </a:p>
        </p:txBody>
      </p:sp>
      <p:sp>
        <p:nvSpPr>
          <p:cNvPr id="2043" name="Google Shape;2043;p59">
            <a:extLst>
              <a:ext uri="{FF2B5EF4-FFF2-40B4-BE49-F238E27FC236}">
                <a16:creationId xmlns:a16="http://schemas.microsoft.com/office/drawing/2014/main" id="{56692965-725E-8B41-CA97-2920D222755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0%</a:t>
            </a:r>
            <a:endParaRPr dirty="0"/>
          </a:p>
        </p:txBody>
      </p:sp>
      <p:sp>
        <p:nvSpPr>
          <p:cNvPr id="2044" name="Google Shape;2044;p59">
            <a:extLst>
              <a:ext uri="{FF2B5EF4-FFF2-40B4-BE49-F238E27FC236}">
                <a16:creationId xmlns:a16="http://schemas.microsoft.com/office/drawing/2014/main" id="{2066C922-4D29-3542-D2A5-E698C42F458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/>
              <a:t>Duplicazione </a:t>
            </a:r>
            <a:r>
              <a:rPr lang="en" b="1" dirty="0">
                <a:solidFill>
                  <a:srgbClr val="00B050"/>
                </a:solidFill>
              </a:rPr>
              <a:t>- A</a:t>
            </a:r>
            <a:endParaRPr dirty="0"/>
          </a:p>
        </p:txBody>
      </p:sp>
      <p:sp>
        <p:nvSpPr>
          <p:cNvPr id="2045" name="Google Shape;2045;p59">
            <a:extLst>
              <a:ext uri="{FF2B5EF4-FFF2-40B4-BE49-F238E27FC236}">
                <a16:creationId xmlns:a16="http://schemas.microsoft.com/office/drawing/2014/main" id="{2F0C126D-1184-5EDC-6689-33E50E36020B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endParaRPr dirty="0"/>
          </a:p>
        </p:txBody>
      </p:sp>
      <p:sp>
        <p:nvSpPr>
          <p:cNvPr id="2046" name="Google Shape;2046;p59">
            <a:extLst>
              <a:ext uri="{FF2B5EF4-FFF2-40B4-BE49-F238E27FC236}">
                <a16:creationId xmlns:a16="http://schemas.microsoft.com/office/drawing/2014/main" id="{2B4163B6-BCB6-1F88-38C7-29B1FE88CB3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Security issues </a:t>
            </a:r>
            <a:r>
              <a:rPr lang="en" b="1" dirty="0">
                <a:solidFill>
                  <a:srgbClr val="00B050"/>
                </a:solidFill>
              </a:rPr>
              <a:t>- A</a:t>
            </a:r>
            <a:endParaRPr b="1" dirty="0">
              <a:solidFill>
                <a:srgbClr val="00B050"/>
              </a:solidFill>
            </a:endParaRPr>
          </a:p>
        </p:txBody>
      </p:sp>
      <p:cxnSp>
        <p:nvCxnSpPr>
          <p:cNvPr id="2047" name="Google Shape;2047;p59">
            <a:extLst>
              <a:ext uri="{FF2B5EF4-FFF2-40B4-BE49-F238E27FC236}">
                <a16:creationId xmlns:a16="http://schemas.microsoft.com/office/drawing/2014/main" id="{8B9E981A-7AD3-B7DD-C07C-836566CEDBE6}"/>
              </a:ext>
            </a:extLst>
          </p:cNvPr>
          <p:cNvCxnSpPr/>
          <p:nvPr/>
        </p:nvCxnSpPr>
        <p:spPr>
          <a:xfrm>
            <a:off x="8843800" y="392547"/>
            <a:ext cx="0" cy="435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221;p45">
            <a:extLst>
              <a:ext uri="{FF2B5EF4-FFF2-40B4-BE49-F238E27FC236}">
                <a16:creationId xmlns:a16="http://schemas.microsoft.com/office/drawing/2014/main" id="{E1EA7325-7D3F-CF6B-9190-13A6D56ABA80}"/>
              </a:ext>
            </a:extLst>
          </p:cNvPr>
          <p:cNvSpPr txBox="1">
            <a:spLocks/>
          </p:cNvSpPr>
          <p:nvPr/>
        </p:nvSpPr>
        <p:spPr>
          <a:xfrm>
            <a:off x="768954" y="392548"/>
            <a:ext cx="4227845" cy="1503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ExtraBold"/>
              <a:buNone/>
              <a:defRPr sz="4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REPORT DI QUALITA’ DEL CODICE - SONARQUBE</a:t>
            </a:r>
          </a:p>
        </p:txBody>
      </p:sp>
      <p:cxnSp>
        <p:nvCxnSpPr>
          <p:cNvPr id="3" name="Google Shape;222;p45">
            <a:extLst>
              <a:ext uri="{FF2B5EF4-FFF2-40B4-BE49-F238E27FC236}">
                <a16:creationId xmlns:a16="http://schemas.microsoft.com/office/drawing/2014/main" id="{96D5EAD8-4839-B636-9CAA-C0B024093E25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2045;p59">
            <a:extLst>
              <a:ext uri="{FF2B5EF4-FFF2-40B4-BE49-F238E27FC236}">
                <a16:creationId xmlns:a16="http://schemas.microsoft.com/office/drawing/2014/main" id="{B4219CD3-B266-3827-9D90-E25CCAC16693}"/>
              </a:ext>
            </a:extLst>
          </p:cNvPr>
          <p:cNvSpPr txBox="1">
            <a:spLocks/>
          </p:cNvSpPr>
          <p:nvPr/>
        </p:nvSpPr>
        <p:spPr>
          <a:xfrm>
            <a:off x="2487776" y="3536543"/>
            <a:ext cx="3159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ExtraBold"/>
              <a:buNone/>
              <a:defRPr sz="4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" dirty="0"/>
              <a:t>0</a:t>
            </a:r>
          </a:p>
        </p:txBody>
      </p:sp>
      <p:sp>
        <p:nvSpPr>
          <p:cNvPr id="5" name="Google Shape;2046;p59">
            <a:extLst>
              <a:ext uri="{FF2B5EF4-FFF2-40B4-BE49-F238E27FC236}">
                <a16:creationId xmlns:a16="http://schemas.microsoft.com/office/drawing/2014/main" id="{5A17D292-A09B-4DE3-8BB3-84A68586F732}"/>
              </a:ext>
            </a:extLst>
          </p:cNvPr>
          <p:cNvSpPr txBox="1">
            <a:spLocks/>
          </p:cNvSpPr>
          <p:nvPr/>
        </p:nvSpPr>
        <p:spPr>
          <a:xfrm>
            <a:off x="2401976" y="4140550"/>
            <a:ext cx="33309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it-IT" dirty="0" err="1"/>
              <a:t>Maintainability</a:t>
            </a:r>
            <a:r>
              <a:rPr lang="it-IT" dirty="0"/>
              <a:t> </a:t>
            </a:r>
            <a:r>
              <a:rPr lang="en" b="1" dirty="0">
                <a:solidFill>
                  <a:srgbClr val="00B050"/>
                </a:solidFill>
              </a:rPr>
              <a:t>- A</a:t>
            </a:r>
            <a:endParaRPr lang="it-IT" dirty="0"/>
          </a:p>
        </p:txBody>
      </p:sp>
      <p:sp>
        <p:nvSpPr>
          <p:cNvPr id="13" name="Google Shape;2045;p59">
            <a:extLst>
              <a:ext uri="{FF2B5EF4-FFF2-40B4-BE49-F238E27FC236}">
                <a16:creationId xmlns:a16="http://schemas.microsoft.com/office/drawing/2014/main" id="{B9CE83ED-1389-CFB8-50D9-39065186E557}"/>
              </a:ext>
            </a:extLst>
          </p:cNvPr>
          <p:cNvSpPr txBox="1">
            <a:spLocks/>
          </p:cNvSpPr>
          <p:nvPr/>
        </p:nvSpPr>
        <p:spPr>
          <a:xfrm>
            <a:off x="2487776" y="2097937"/>
            <a:ext cx="3159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ExtraBold"/>
              <a:buNone/>
              <a:defRPr sz="4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" dirty="0"/>
              <a:t>0</a:t>
            </a:r>
          </a:p>
        </p:txBody>
      </p:sp>
      <p:sp>
        <p:nvSpPr>
          <p:cNvPr id="15" name="Google Shape;2046;p59">
            <a:extLst>
              <a:ext uri="{FF2B5EF4-FFF2-40B4-BE49-F238E27FC236}">
                <a16:creationId xmlns:a16="http://schemas.microsoft.com/office/drawing/2014/main" id="{2B6E2A44-867C-4007-0079-DB2241EEBC99}"/>
              </a:ext>
            </a:extLst>
          </p:cNvPr>
          <p:cNvSpPr txBox="1">
            <a:spLocks/>
          </p:cNvSpPr>
          <p:nvPr/>
        </p:nvSpPr>
        <p:spPr>
          <a:xfrm>
            <a:off x="2401976" y="2701944"/>
            <a:ext cx="33309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it-IT" dirty="0"/>
              <a:t>Reliability </a:t>
            </a:r>
            <a:r>
              <a:rPr lang="en" b="1" dirty="0">
                <a:solidFill>
                  <a:srgbClr val="00B050"/>
                </a:solidFill>
              </a:rPr>
              <a:t>- 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38367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VERSIONING</a:t>
            </a:r>
            <a:endParaRPr dirty="0"/>
          </a:p>
        </p:txBody>
      </p:sp>
      <p:cxnSp>
        <p:nvCxnSpPr>
          <p:cNvPr id="222" name="Google Shape;222;p4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11" name="Immagine 10">
            <a:extLst>
              <a:ext uri="{FF2B5EF4-FFF2-40B4-BE49-F238E27FC236}">
                <a16:creationId xmlns:a16="http://schemas.microsoft.com/office/drawing/2014/main" id="{91D18203-9C69-9A17-7F86-B2D8D2B00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71" y="2949247"/>
            <a:ext cx="5122127" cy="209802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1147120-7946-CD81-0A05-E83BDC0DF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71" y="1054306"/>
            <a:ext cx="6110868" cy="18156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A4B1B605-493B-5B6B-CA84-184666FB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8B70CCA2-93EC-4CFA-5BAA-D2A737751AC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8600" y="3220593"/>
            <a:ext cx="2981037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THANKS</a:t>
            </a:r>
            <a:endParaRPr sz="4800"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20FE4872-B879-51CE-7C5F-F7BD114C71B8}"/>
              </a:ext>
            </a:extLst>
          </p:cNvPr>
          <p:cNvCxnSpPr/>
          <p:nvPr/>
        </p:nvCxnSpPr>
        <p:spPr>
          <a:xfrm>
            <a:off x="3878379" y="3220593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643086744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569</Words>
  <Application>Microsoft Office PowerPoint</Application>
  <PresentationFormat>Presentazione su schermo (16:9)</PresentationFormat>
  <Paragraphs>135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3" baseType="lpstr">
      <vt:lpstr>Courier New</vt:lpstr>
      <vt:lpstr>Arial</vt:lpstr>
      <vt:lpstr>Montserrat</vt:lpstr>
      <vt:lpstr>Montserrat ExtraBold</vt:lpstr>
      <vt:lpstr>Futuristic Background by Slidesgo</vt:lpstr>
      <vt:lpstr>Bugboard</vt:lpstr>
      <vt:lpstr>01</vt:lpstr>
      <vt:lpstr>REQUISITI</vt:lpstr>
      <vt:lpstr>Requisiti e sfide tecniche</vt:lpstr>
      <vt:lpstr>DESIGN DEL SISTEMA</vt:lpstr>
      <vt:lpstr>Architettura Client-Server</vt:lpstr>
      <vt:lpstr>SERVER (BACKEND)</vt:lpstr>
      <vt:lpstr>SERVER (BACKEND)</vt:lpstr>
      <vt:lpstr>CLIENT (FRONTEND)</vt:lpstr>
      <vt:lpstr>CLIENT (FRONTEND)</vt:lpstr>
      <vt:lpstr>Persistenza</vt:lpstr>
      <vt:lpstr>WORKFLOW ASSEGNAZIONE</vt:lpstr>
      <vt:lpstr>ATTIVITA’ DI TESTING</vt:lpstr>
      <vt:lpstr>ATTIVITA’ DI TESTING</vt:lpstr>
      <vt:lpstr>CONCLUSIONI</vt:lpstr>
      <vt:lpstr>2453</vt:lpstr>
      <vt:lpstr>VERSIONING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Manuel Montuori</cp:lastModifiedBy>
  <cp:revision>10</cp:revision>
  <dcterms:modified xsi:type="dcterms:W3CDTF">2026-07-21T09:41:30Z</dcterms:modified>
</cp:coreProperties>
</file>