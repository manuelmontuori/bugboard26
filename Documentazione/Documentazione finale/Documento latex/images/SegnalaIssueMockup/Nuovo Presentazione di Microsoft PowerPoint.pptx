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BE6381-E1A1-5D99-33A9-3A41BBF05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F4D0FBA-42CB-2BF2-E437-9FE2BC39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0CFD31-D517-4951-1580-8AD48023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9EB96E-8BAD-F88A-2C44-1E0863FA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6EC860-C5E1-3B14-992E-2EBECF9D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155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92F5F6-6635-02B3-156D-1A1AD211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E8CD37-9BB4-B194-E1CE-FF8B2715F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8DA814-7E44-DF55-C58F-A467AEAD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A4BF8F-0D25-AA9B-9CC4-5CCCFE12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80F558-E0D5-F07D-84E1-3737C509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363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15E9F1-CAFD-D0A7-8657-3ABA5CBB8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4CBDC94-FF49-656E-B1B8-AC6CD23EB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AEC150-36A0-860C-326D-160B4A9C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CA3AF4-2406-AF61-DD87-ADCCF15CB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B2F2BC-4A44-1A59-3FC2-7FB5C2222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026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742B36-2084-7905-FB85-A106B19F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8CDCEB-D726-A05D-BF63-4D5BF4C9C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4D9909-065E-C447-C8CC-AE5AF0F54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F9076F2-D2EF-BB79-6137-546F4101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914B495-1BC4-3C1D-2A27-62D2E0B8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A5EC33-4CA4-CF5B-D2A7-D6BD1439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1089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7588C5-EABD-47BF-6862-99D296EF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69873C-6DA3-2162-BF35-6129B085F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A77DB77-9857-9F16-6AB9-774BF2FB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49E2782-7FFF-D8C7-FE46-330D26575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35DEFE4-17CA-8CD0-EB3D-009355DE5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16D33D2-D050-BC43-7650-EA5D4C6A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038AE0E-092C-D974-A7D1-A6D7F0CC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CEDF91F-6367-C2CE-41D0-AF8450129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912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806D55-7495-AAAC-4754-519BF1A4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DBA0AC5-FEBD-F56E-0F1F-14DCF289F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CFB6BEA-D0A8-6358-9803-0BA2FF07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A5BBDE3-0B1B-16C6-E71F-1FD696229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5284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FEC03EF-6402-760B-ABC7-AF37C51B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75B0012-AC02-6D02-CD5A-6199CCC2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6CA9B39-9515-6261-8887-DF75C322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711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3CCF93-BA28-390C-279E-BB6C1FD3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3A7B12-9C1E-D84F-2692-49F62E733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5A08D3-1A16-9F12-31E1-396DF4346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B15278-E35E-CE00-1079-C0DEF9A9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19DFE3-3BE1-44CF-CB0B-FFA8DD6F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23F2C35-E329-6E15-A7F9-21957EF3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870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F9933A-75D7-13FE-1B94-FD38B213D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FDB0404-BE97-C68E-74EE-85C2217DB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38D0679-8571-9AF1-C132-128633B18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4DF0B86-1D5E-8C62-6DD7-8E710A2C6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B3A25B0-9F47-3A81-FBB6-C6B796FD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47A4FA-F1D0-ADF8-0EBF-FA1A8D63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312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5CCC25-8EE3-58D7-5580-367E4D002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0380EA-7B60-8E84-ED1C-E7509527B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83871A-C229-3FB9-CC03-AF35D42E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F69253-67F2-2025-3C24-F258AE4E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5B7A60-1771-F634-D849-837BDF2C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992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52A7D4A-6B50-B848-FF71-387E88AD6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BEF1861-A4F8-EDCA-F151-5E9A5E665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6A7F65-9549-6F1D-1657-981AA6B6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B69ED7-7408-2006-2907-A2C0CD1E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390B7F-9D89-1370-1204-F7006B7C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96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21FC4A1-45A6-3BCA-5A0D-90BBD715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403C74-0E3D-D799-626E-8D103DB9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F9A419-5670-3E2C-B560-ACBC3DCAA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BFFEC-FA97-4E5E-B681-EA946C3129DF}" type="datetimeFigureOut">
              <a:rPr lang="it-IT" smtClean="0"/>
              <a:t>10/07/2026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9461FD-DAE8-3E9B-4526-3342A118A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17DE47-7D51-910C-2C8B-1B96ECA88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0D8E1-72CD-4C52-A646-066CC25332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7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po 40">
            <a:extLst>
              <a:ext uri="{FF2B5EF4-FFF2-40B4-BE49-F238E27FC236}">
                <a16:creationId xmlns:a16="http://schemas.microsoft.com/office/drawing/2014/main" id="{191A814B-18DF-D5A9-F406-6537A4DE46BE}"/>
              </a:ext>
            </a:extLst>
          </p:cNvPr>
          <p:cNvGrpSpPr/>
          <p:nvPr/>
        </p:nvGrpSpPr>
        <p:grpSpPr>
          <a:xfrm>
            <a:off x="1528689" y="1180618"/>
            <a:ext cx="8367665" cy="5288175"/>
            <a:chOff x="1528689" y="1180618"/>
            <a:chExt cx="8367665" cy="5288175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4C4CD6ED-CECF-5B63-6392-00F68174448F}"/>
                </a:ext>
              </a:extLst>
            </p:cNvPr>
            <p:cNvSpPr/>
            <p:nvPr/>
          </p:nvSpPr>
          <p:spPr>
            <a:xfrm>
              <a:off x="1528689" y="1180618"/>
              <a:ext cx="8367665" cy="5288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3E425DDA-7D23-6CAB-B235-79AFFC5320C2}"/>
                </a:ext>
              </a:extLst>
            </p:cNvPr>
            <p:cNvSpPr txBox="1"/>
            <p:nvPr/>
          </p:nvSpPr>
          <p:spPr>
            <a:xfrm>
              <a:off x="2050794" y="2232375"/>
              <a:ext cx="40679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>
                  <a:solidFill>
                    <a:schemeClr val="accent1"/>
                  </a:solidFill>
                  <a:latin typeface="Cavolini" panose="020B0502040204020203" pitchFamily="66" charset="0"/>
                  <a:cs typeface="Cavolini" panose="020B0502040204020203" pitchFamily="66" charset="0"/>
                </a:rPr>
                <a:t>Crea Issue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EB165E54-8C1A-3AF0-DEC7-DF11DBDD7EB3}"/>
                </a:ext>
              </a:extLst>
            </p:cNvPr>
            <p:cNvSpPr txBox="1"/>
            <p:nvPr/>
          </p:nvSpPr>
          <p:spPr>
            <a:xfrm>
              <a:off x="2050794" y="3564256"/>
              <a:ext cx="40679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>
                  <a:latin typeface="Cavolini" panose="020B0502040204020203" pitchFamily="66" charset="0"/>
                  <a:cs typeface="Cavolini" panose="020B0502040204020203" pitchFamily="66" charset="0"/>
                </a:rPr>
                <a:t>Inserisci i dati richiesti per la segnalazione </a:t>
              </a:r>
            </a:p>
          </p:txBody>
        </p:sp>
        <p:grpSp>
          <p:nvGrpSpPr>
            <p:cNvPr id="40" name="Gruppo 39">
              <a:extLst>
                <a:ext uri="{FF2B5EF4-FFF2-40B4-BE49-F238E27FC236}">
                  <a16:creationId xmlns:a16="http://schemas.microsoft.com/office/drawing/2014/main" id="{C187234C-06C1-01A9-7D23-C102BA091E9E}"/>
                </a:ext>
              </a:extLst>
            </p:cNvPr>
            <p:cNvGrpSpPr/>
            <p:nvPr/>
          </p:nvGrpSpPr>
          <p:grpSpPr>
            <a:xfrm>
              <a:off x="8110219" y="5916521"/>
              <a:ext cx="1407160" cy="369332"/>
              <a:chOff x="8405251" y="4923896"/>
              <a:chExt cx="1407160" cy="369332"/>
            </a:xfrm>
          </p:grpSpPr>
          <p:sp>
            <p:nvSpPr>
              <p:cNvPr id="24" name="Rettangolo con angoli arrotondati 23">
                <a:extLst>
                  <a:ext uri="{FF2B5EF4-FFF2-40B4-BE49-F238E27FC236}">
                    <a16:creationId xmlns:a16="http://schemas.microsoft.com/office/drawing/2014/main" id="{6D88428D-C2EC-AB27-F4BF-3C6E8C54584B}"/>
                  </a:ext>
                </a:extLst>
              </p:cNvPr>
              <p:cNvSpPr/>
              <p:nvPr/>
            </p:nvSpPr>
            <p:spPr>
              <a:xfrm>
                <a:off x="8405251" y="4939285"/>
                <a:ext cx="1407160" cy="353943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82A94D95-895C-3702-5893-12523DC87A4E}"/>
                  </a:ext>
                </a:extLst>
              </p:cNvPr>
              <p:cNvSpPr txBox="1"/>
              <p:nvPr/>
            </p:nvSpPr>
            <p:spPr>
              <a:xfrm>
                <a:off x="8739980" y="4923896"/>
                <a:ext cx="771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 dirty="0">
                    <a:solidFill>
                      <a:schemeClr val="bg1"/>
                    </a:solidFill>
                  </a:rPr>
                  <a:t>INVIA</a:t>
                </a:r>
              </a:p>
            </p:txBody>
          </p:sp>
        </p:grpSp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E0B095D6-561E-5456-8020-A83D30B9EB64}"/>
                </a:ext>
              </a:extLst>
            </p:cNvPr>
            <p:cNvGrpSpPr/>
            <p:nvPr/>
          </p:nvGrpSpPr>
          <p:grpSpPr>
            <a:xfrm>
              <a:off x="6009318" y="1477383"/>
              <a:ext cx="3098818" cy="731602"/>
              <a:chOff x="6010013" y="1409950"/>
              <a:chExt cx="3098818" cy="731602"/>
            </a:xfrm>
          </p:grpSpPr>
          <p:grpSp>
            <p:nvGrpSpPr>
              <p:cNvPr id="12" name="Gruppo 11">
                <a:extLst>
                  <a:ext uri="{FF2B5EF4-FFF2-40B4-BE49-F238E27FC236}">
                    <a16:creationId xmlns:a16="http://schemas.microsoft.com/office/drawing/2014/main" id="{4733CCD9-0999-7809-7063-E3CCE598A8CE}"/>
                  </a:ext>
                </a:extLst>
              </p:cNvPr>
              <p:cNvGrpSpPr/>
              <p:nvPr/>
            </p:nvGrpSpPr>
            <p:grpSpPr>
              <a:xfrm>
                <a:off x="6010013" y="1409950"/>
                <a:ext cx="3098818" cy="728151"/>
                <a:chOff x="6010013" y="1409950"/>
                <a:chExt cx="3098818" cy="728151"/>
              </a:xfrm>
            </p:grpSpPr>
            <p:sp>
              <p:nvSpPr>
                <p:cNvPr id="10" name="Rettangolo 9">
                  <a:extLst>
                    <a:ext uri="{FF2B5EF4-FFF2-40B4-BE49-F238E27FC236}">
                      <a16:creationId xmlns:a16="http://schemas.microsoft.com/office/drawing/2014/main" id="{D1E0A702-D424-4B06-8132-198CB288D6A9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sp>
              <p:nvSpPr>
                <p:cNvPr id="11" name="CasellaDiTesto 10">
                  <a:extLst>
                    <a:ext uri="{FF2B5EF4-FFF2-40B4-BE49-F238E27FC236}">
                      <a16:creationId xmlns:a16="http://schemas.microsoft.com/office/drawing/2014/main" id="{457F4263-EE1D-4800-FFB9-4EFF26F3354F}"/>
                    </a:ext>
                  </a:extLst>
                </p:cNvPr>
                <p:cNvSpPr txBox="1"/>
                <p:nvPr/>
              </p:nvSpPr>
              <p:spPr>
                <a:xfrm>
                  <a:off x="6010013" y="1409950"/>
                  <a:ext cx="84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/>
                    <a:t>Titolo*</a:t>
                  </a:r>
                </a:p>
              </p:txBody>
            </p:sp>
          </p:grpSp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5A2E8DD8-14EA-69AF-D5DC-6EDF7F073C12}"/>
                  </a:ext>
                </a:extLst>
              </p:cNvPr>
              <p:cNvSpPr txBox="1"/>
              <p:nvPr/>
            </p:nvSpPr>
            <p:spPr>
              <a:xfrm>
                <a:off x="6065019" y="1772220"/>
                <a:ext cx="736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chemeClr val="bg1">
                        <a:lumMod val="65000"/>
                      </a:schemeClr>
                    </a:solidFill>
                  </a:rPr>
                  <a:t>Titolo</a:t>
                </a:r>
              </a:p>
            </p:txBody>
          </p:sp>
        </p:grpSp>
        <p:grpSp>
          <p:nvGrpSpPr>
            <p:cNvPr id="39" name="Gruppo 38">
              <a:extLst>
                <a:ext uri="{FF2B5EF4-FFF2-40B4-BE49-F238E27FC236}">
                  <a16:creationId xmlns:a16="http://schemas.microsoft.com/office/drawing/2014/main" id="{AA9551FD-AE0C-51DF-86A5-C3AC2FE315E4}"/>
                </a:ext>
              </a:extLst>
            </p:cNvPr>
            <p:cNvGrpSpPr/>
            <p:nvPr/>
          </p:nvGrpSpPr>
          <p:grpSpPr>
            <a:xfrm>
              <a:off x="5973757" y="2335033"/>
              <a:ext cx="2840042" cy="1386119"/>
              <a:chOff x="6009318" y="2211047"/>
              <a:chExt cx="2840042" cy="1386119"/>
            </a:xfrm>
          </p:grpSpPr>
          <p:grpSp>
            <p:nvGrpSpPr>
              <p:cNvPr id="13" name="Gruppo 12">
                <a:extLst>
                  <a:ext uri="{FF2B5EF4-FFF2-40B4-BE49-F238E27FC236}">
                    <a16:creationId xmlns:a16="http://schemas.microsoft.com/office/drawing/2014/main" id="{8A7AC3AB-AE51-9706-D963-F5F429BDA56D}"/>
                  </a:ext>
                </a:extLst>
              </p:cNvPr>
              <p:cNvGrpSpPr/>
              <p:nvPr/>
            </p:nvGrpSpPr>
            <p:grpSpPr>
              <a:xfrm>
                <a:off x="6009318" y="2211047"/>
                <a:ext cx="2840042" cy="1386119"/>
                <a:chOff x="6001149" y="1659032"/>
                <a:chExt cx="3107682" cy="479069"/>
              </a:xfrm>
            </p:grpSpPr>
            <p:sp>
              <p:nvSpPr>
                <p:cNvPr id="14" name="Rettangolo 13">
                  <a:extLst>
                    <a:ext uri="{FF2B5EF4-FFF2-40B4-BE49-F238E27FC236}">
                      <a16:creationId xmlns:a16="http://schemas.microsoft.com/office/drawing/2014/main" id="{688659AD-A9F9-6996-9098-691505A61468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49DD8F00-F314-61A9-B490-D0B3CF8428FF}"/>
                    </a:ext>
                  </a:extLst>
                </p:cNvPr>
                <p:cNvSpPr txBox="1"/>
                <p:nvPr/>
              </p:nvSpPr>
              <p:spPr>
                <a:xfrm>
                  <a:off x="6001149" y="1659032"/>
                  <a:ext cx="1605322" cy="1276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/>
                    <a:t>Descrizione*</a:t>
                  </a:r>
                </a:p>
              </p:txBody>
            </p:sp>
          </p:grpSp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6452C048-C17B-3EE1-7D48-5C80DCCB2E30}"/>
                  </a:ext>
                </a:extLst>
              </p:cNvPr>
              <p:cNvSpPr txBox="1"/>
              <p:nvPr/>
            </p:nvSpPr>
            <p:spPr>
              <a:xfrm>
                <a:off x="6070676" y="2591288"/>
                <a:ext cx="736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chemeClr val="bg1">
                        <a:lumMod val="65000"/>
                      </a:schemeClr>
                    </a:solidFill>
                  </a:rPr>
                  <a:t>Titolo</a:t>
                </a:r>
              </a:p>
            </p:txBody>
          </p:sp>
        </p:grp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F8A45DA0-169C-44CF-141B-78221F30EC02}"/>
                </a:ext>
              </a:extLst>
            </p:cNvPr>
            <p:cNvGrpSpPr/>
            <p:nvPr/>
          </p:nvGrpSpPr>
          <p:grpSpPr>
            <a:xfrm>
              <a:off x="6009318" y="4680074"/>
              <a:ext cx="1956121" cy="677500"/>
              <a:chOff x="6009319" y="4148609"/>
              <a:chExt cx="1956121" cy="677500"/>
            </a:xfrm>
          </p:grpSpPr>
          <p:grpSp>
            <p:nvGrpSpPr>
              <p:cNvPr id="20" name="Gruppo 19">
                <a:extLst>
                  <a:ext uri="{FF2B5EF4-FFF2-40B4-BE49-F238E27FC236}">
                    <a16:creationId xmlns:a16="http://schemas.microsoft.com/office/drawing/2014/main" id="{8B2C5253-FB8B-88B2-BCA9-6C44CFB46E05}"/>
                  </a:ext>
                </a:extLst>
              </p:cNvPr>
              <p:cNvGrpSpPr/>
              <p:nvPr/>
            </p:nvGrpSpPr>
            <p:grpSpPr>
              <a:xfrm>
                <a:off x="6009319" y="4148609"/>
                <a:ext cx="1956121" cy="677500"/>
                <a:chOff x="5956303" y="1460601"/>
                <a:chExt cx="3152528" cy="677500"/>
              </a:xfrm>
            </p:grpSpPr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A41A8832-5383-CEFB-8674-0B982B615F36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sp>
              <p:nvSpPr>
                <p:cNvPr id="22" name="CasellaDiTesto 21">
                  <a:extLst>
                    <a:ext uri="{FF2B5EF4-FFF2-40B4-BE49-F238E27FC236}">
                      <a16:creationId xmlns:a16="http://schemas.microsoft.com/office/drawing/2014/main" id="{F223C521-0252-3897-506D-2ACCECA22901}"/>
                    </a:ext>
                  </a:extLst>
                </p:cNvPr>
                <p:cNvSpPr txBox="1"/>
                <p:nvPr/>
              </p:nvSpPr>
              <p:spPr>
                <a:xfrm>
                  <a:off x="5956303" y="1460601"/>
                  <a:ext cx="145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/>
                    <a:t>Priorità</a:t>
                  </a:r>
                </a:p>
              </p:txBody>
            </p:sp>
          </p:grpSp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6320857C-ED37-789E-F328-C65EAA8DCDF7}"/>
                  </a:ext>
                </a:extLst>
              </p:cNvPr>
              <p:cNvSpPr txBox="1"/>
              <p:nvPr/>
            </p:nvSpPr>
            <p:spPr>
              <a:xfrm>
                <a:off x="6095304" y="4452178"/>
                <a:ext cx="64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chemeClr val="bg1">
                        <a:lumMod val="65000"/>
                      </a:schemeClr>
                    </a:solidFill>
                  </a:rPr>
                  <a:t>High</a:t>
                </a:r>
              </a:p>
            </p:txBody>
          </p:sp>
        </p:grpSp>
        <p:sp>
          <p:nvSpPr>
            <p:cNvPr id="23" name="Triangolo isoscele 22">
              <a:extLst>
                <a:ext uri="{FF2B5EF4-FFF2-40B4-BE49-F238E27FC236}">
                  <a16:creationId xmlns:a16="http://schemas.microsoft.com/office/drawing/2014/main" id="{1098F354-2231-D125-3EC0-F589AA4BD06A}"/>
                </a:ext>
              </a:extLst>
            </p:cNvPr>
            <p:cNvSpPr/>
            <p:nvPr/>
          </p:nvSpPr>
          <p:spPr>
            <a:xfrm rot="10800000">
              <a:off x="7652521" y="5108562"/>
              <a:ext cx="226558" cy="144947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A80C6A11-7C1A-3E9D-4CC3-7FDFE75DF6DD}"/>
                </a:ext>
              </a:extLst>
            </p:cNvPr>
            <p:cNvGrpSpPr/>
            <p:nvPr/>
          </p:nvGrpSpPr>
          <p:grpSpPr>
            <a:xfrm>
              <a:off x="6009318" y="3754420"/>
              <a:ext cx="1956121" cy="709107"/>
              <a:chOff x="6009318" y="3754420"/>
              <a:chExt cx="1956121" cy="709107"/>
            </a:xfrm>
          </p:grpSpPr>
          <p:grpSp>
            <p:nvGrpSpPr>
              <p:cNvPr id="35" name="Gruppo 34">
                <a:extLst>
                  <a:ext uri="{FF2B5EF4-FFF2-40B4-BE49-F238E27FC236}">
                    <a16:creationId xmlns:a16="http://schemas.microsoft.com/office/drawing/2014/main" id="{9642810F-5392-9AA7-C2DC-C89B8D2F4862}"/>
                  </a:ext>
                </a:extLst>
              </p:cNvPr>
              <p:cNvGrpSpPr/>
              <p:nvPr/>
            </p:nvGrpSpPr>
            <p:grpSpPr>
              <a:xfrm>
                <a:off x="6009318" y="3754420"/>
                <a:ext cx="1956121" cy="709107"/>
                <a:chOff x="6009319" y="3537249"/>
                <a:chExt cx="1956121" cy="709107"/>
              </a:xfrm>
            </p:grpSpPr>
            <p:grpSp>
              <p:nvGrpSpPr>
                <p:cNvPr id="16" name="Gruppo 15">
                  <a:extLst>
                    <a:ext uri="{FF2B5EF4-FFF2-40B4-BE49-F238E27FC236}">
                      <a16:creationId xmlns:a16="http://schemas.microsoft.com/office/drawing/2014/main" id="{67637CA6-70FF-7BD9-A21C-05D90DC3D762}"/>
                    </a:ext>
                  </a:extLst>
                </p:cNvPr>
                <p:cNvGrpSpPr/>
                <p:nvPr/>
              </p:nvGrpSpPr>
              <p:grpSpPr>
                <a:xfrm>
                  <a:off x="6009319" y="3537249"/>
                  <a:ext cx="1956121" cy="709107"/>
                  <a:chOff x="5956303" y="1428994"/>
                  <a:chExt cx="3152528" cy="709107"/>
                </a:xfrm>
              </p:grpSpPr>
              <p:sp>
                <p:nvSpPr>
                  <p:cNvPr id="17" name="Rettangolo 16">
                    <a:extLst>
                      <a:ext uri="{FF2B5EF4-FFF2-40B4-BE49-F238E27FC236}">
                        <a16:creationId xmlns:a16="http://schemas.microsoft.com/office/drawing/2014/main" id="{BEF52E96-B110-1089-E2B9-B8279A0B059B}"/>
                      </a:ext>
                    </a:extLst>
                  </p:cNvPr>
                  <p:cNvSpPr/>
                  <p:nvPr/>
                </p:nvSpPr>
                <p:spPr>
                  <a:xfrm>
                    <a:off x="6096000" y="1784158"/>
                    <a:ext cx="3012831" cy="35394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/>
                  </a:p>
                </p:txBody>
              </p:sp>
              <p:sp>
                <p:nvSpPr>
                  <p:cNvPr id="18" name="CasellaDiTesto 17">
                    <a:extLst>
                      <a:ext uri="{FF2B5EF4-FFF2-40B4-BE49-F238E27FC236}">
                        <a16:creationId xmlns:a16="http://schemas.microsoft.com/office/drawing/2014/main" id="{5C652429-F515-A995-F68D-B4670F1294CE}"/>
                      </a:ext>
                    </a:extLst>
                  </p:cNvPr>
                  <p:cNvSpPr txBox="1"/>
                  <p:nvPr/>
                </p:nvSpPr>
                <p:spPr>
                  <a:xfrm>
                    <a:off x="5956303" y="1428994"/>
                    <a:ext cx="9770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it-IT" dirty="0"/>
                      <a:t>Tipo</a:t>
                    </a:r>
                  </a:p>
                </p:txBody>
              </p:sp>
            </p:grpSp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302377BF-79E5-FD06-A2D7-E6A7DBC42A37}"/>
                    </a:ext>
                  </a:extLst>
                </p:cNvPr>
                <p:cNvSpPr txBox="1"/>
                <p:nvPr/>
              </p:nvSpPr>
              <p:spPr>
                <a:xfrm>
                  <a:off x="6095999" y="3873732"/>
                  <a:ext cx="5645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>
                      <a:solidFill>
                        <a:schemeClr val="bg1">
                          <a:lumMod val="65000"/>
                        </a:schemeClr>
                      </a:solidFill>
                    </a:rPr>
                    <a:t>Bug</a:t>
                  </a:r>
                </a:p>
              </p:txBody>
            </p:sp>
          </p:grpSp>
          <p:sp>
            <p:nvSpPr>
              <p:cNvPr id="19" name="Triangolo isoscele 18">
                <a:extLst>
                  <a:ext uri="{FF2B5EF4-FFF2-40B4-BE49-F238E27FC236}">
                    <a16:creationId xmlns:a16="http://schemas.microsoft.com/office/drawing/2014/main" id="{9DD36BAD-E89D-25F1-9364-4BA1F32D479D}"/>
                  </a:ext>
                </a:extLst>
              </p:cNvPr>
              <p:cNvSpPr/>
              <p:nvPr/>
            </p:nvSpPr>
            <p:spPr>
              <a:xfrm rot="10800000">
                <a:off x="7652521" y="4227925"/>
                <a:ext cx="226558" cy="144947"/>
              </a:xfrm>
              <a:prstGeom prst="triangl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4717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ADAC-3226-6478-A925-6810C22B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D6A7E0CF-4DDE-3160-EC6A-208A48E53E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88" y="774443"/>
            <a:ext cx="8387623" cy="5309113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69B47D83-2FD6-0F14-7190-E0106FB1F796}"/>
              </a:ext>
            </a:extLst>
          </p:cNvPr>
          <p:cNvSpPr/>
          <p:nvPr/>
        </p:nvSpPr>
        <p:spPr>
          <a:xfrm>
            <a:off x="3190753" y="2141316"/>
            <a:ext cx="5810491" cy="2118168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A0A2605-2479-CB29-773F-41190386E59E}"/>
              </a:ext>
            </a:extLst>
          </p:cNvPr>
          <p:cNvSpPr/>
          <p:nvPr/>
        </p:nvSpPr>
        <p:spPr>
          <a:xfrm>
            <a:off x="3657600" y="2393859"/>
            <a:ext cx="682906" cy="5847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5992190-2E0F-88DE-6E2B-987785A1517E}"/>
              </a:ext>
            </a:extLst>
          </p:cNvPr>
          <p:cNvSpPr txBox="1"/>
          <p:nvPr/>
        </p:nvSpPr>
        <p:spPr>
          <a:xfrm>
            <a:off x="3731619" y="3161727"/>
            <a:ext cx="430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La Issue è stata creata con </a:t>
            </a:r>
            <a:r>
              <a:rPr lang="it-IT" b="1" dirty="0">
                <a:solidFill>
                  <a:schemeClr val="accent3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successo</a:t>
            </a:r>
            <a:r>
              <a:rPr lang="it-IT" b="1" dirty="0">
                <a:solidFill>
                  <a:schemeClr val="accent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!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5BD5D1C-6EED-0199-313F-0D605EF6F882}"/>
              </a:ext>
            </a:extLst>
          </p:cNvPr>
          <p:cNvSpPr txBox="1"/>
          <p:nvPr/>
        </p:nvSpPr>
        <p:spPr>
          <a:xfrm>
            <a:off x="3824216" y="2393859"/>
            <a:ext cx="327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i</a:t>
            </a:r>
            <a:endParaRPr lang="it-IT" b="1" dirty="0">
              <a:solidFill>
                <a:schemeClr val="bg1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F8F9E799-AED9-A2C5-1D62-84CE53E31BB9}"/>
              </a:ext>
            </a:extLst>
          </p:cNvPr>
          <p:cNvSpPr/>
          <p:nvPr/>
        </p:nvSpPr>
        <p:spPr>
          <a:xfrm>
            <a:off x="7454095" y="3727439"/>
            <a:ext cx="1226917" cy="405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239B8006-91E6-6717-9608-0052FC56F3FE}"/>
              </a:ext>
            </a:extLst>
          </p:cNvPr>
          <p:cNvSpPr txBox="1"/>
          <p:nvPr/>
        </p:nvSpPr>
        <p:spPr>
          <a:xfrm>
            <a:off x="7785264" y="3732443"/>
            <a:ext cx="564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Ok</a:t>
            </a:r>
            <a:endParaRPr lang="it-IT" b="1" dirty="0">
              <a:solidFill>
                <a:schemeClr val="bg1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02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DF215-A1E5-9FD7-446B-186DB164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3714FDF0-A75C-6DC0-C479-6E6A860BC0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88" y="774443"/>
            <a:ext cx="8387623" cy="5309113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1285911C-FD61-612A-CB72-2C5D619288C8}"/>
              </a:ext>
            </a:extLst>
          </p:cNvPr>
          <p:cNvGrpSpPr/>
          <p:nvPr/>
        </p:nvGrpSpPr>
        <p:grpSpPr>
          <a:xfrm>
            <a:off x="3190753" y="2141316"/>
            <a:ext cx="5810491" cy="2118168"/>
            <a:chOff x="3190753" y="2141316"/>
            <a:chExt cx="5810491" cy="2118168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39D250CD-3289-4E1D-53BA-067D52D7553A}"/>
                </a:ext>
              </a:extLst>
            </p:cNvPr>
            <p:cNvSpPr/>
            <p:nvPr/>
          </p:nvSpPr>
          <p:spPr>
            <a:xfrm>
              <a:off x="3190753" y="2141316"/>
              <a:ext cx="5810491" cy="21181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5043C4F3-63C7-F3AD-81E5-E9C879D78E5E}"/>
                </a:ext>
              </a:extLst>
            </p:cNvPr>
            <p:cNvSpPr txBox="1"/>
            <p:nvPr/>
          </p:nvSpPr>
          <p:spPr>
            <a:xfrm>
              <a:off x="3824216" y="3081108"/>
              <a:ext cx="46182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FF0000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Impossibile salvare la issue. Il Server non risponde</a:t>
              </a:r>
              <a:r>
                <a:rPr lang="it-IT" b="1" dirty="0">
                  <a:solidFill>
                    <a:schemeClr val="accent1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.</a:t>
              </a:r>
              <a:endParaRPr lang="it-IT" b="1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  <p:grpSp>
          <p:nvGrpSpPr>
            <p:cNvPr id="2" name="Gruppo 1">
              <a:extLst>
                <a:ext uri="{FF2B5EF4-FFF2-40B4-BE49-F238E27FC236}">
                  <a16:creationId xmlns:a16="http://schemas.microsoft.com/office/drawing/2014/main" id="{AE69DF39-5A6A-6968-EA88-30B6A257E40F}"/>
                </a:ext>
              </a:extLst>
            </p:cNvPr>
            <p:cNvGrpSpPr/>
            <p:nvPr/>
          </p:nvGrpSpPr>
          <p:grpSpPr>
            <a:xfrm>
              <a:off x="3662680" y="2318824"/>
              <a:ext cx="640080" cy="584775"/>
              <a:chOff x="3657600" y="2393859"/>
              <a:chExt cx="682906" cy="637828"/>
            </a:xfrm>
          </p:grpSpPr>
          <p:sp>
            <p:nvSpPr>
              <p:cNvPr id="29" name="Ovale 28">
                <a:extLst>
                  <a:ext uri="{FF2B5EF4-FFF2-40B4-BE49-F238E27FC236}">
                    <a16:creationId xmlns:a16="http://schemas.microsoft.com/office/drawing/2014/main" id="{7D95C056-001A-B247-0EF7-872644FDCA31}"/>
                  </a:ext>
                </a:extLst>
              </p:cNvPr>
              <p:cNvSpPr/>
              <p:nvPr/>
            </p:nvSpPr>
            <p:spPr>
              <a:xfrm>
                <a:off x="3657600" y="2393859"/>
                <a:ext cx="682906" cy="5847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8929B2E6-702D-04C6-BA98-B1B28989945C}"/>
                  </a:ext>
                </a:extLst>
              </p:cNvPr>
              <p:cNvSpPr txBox="1"/>
              <p:nvPr/>
            </p:nvSpPr>
            <p:spPr>
              <a:xfrm>
                <a:off x="3824216" y="2393859"/>
                <a:ext cx="283235" cy="63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>
                    <a:solidFill>
                      <a:schemeClr val="bg1"/>
                    </a:solidFill>
                    <a:latin typeface="Cavolini" panose="03000502040302020204" pitchFamily="66" charset="0"/>
                    <a:cs typeface="Cavolini" panose="03000502040302020204" pitchFamily="66" charset="0"/>
                  </a:rPr>
                  <a:t>i</a:t>
                </a:r>
                <a:endParaRPr lang="it-IT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endParaRPr>
              </a:p>
            </p:txBody>
          </p:sp>
        </p:grpSp>
        <p:sp>
          <p:nvSpPr>
            <p:cNvPr id="31" name="Rettangolo con angoli arrotondati 30">
              <a:extLst>
                <a:ext uri="{FF2B5EF4-FFF2-40B4-BE49-F238E27FC236}">
                  <a16:creationId xmlns:a16="http://schemas.microsoft.com/office/drawing/2014/main" id="{DBB3E314-F43A-ACC3-6E4D-FD5ECCC42382}"/>
                </a:ext>
              </a:extLst>
            </p:cNvPr>
            <p:cNvSpPr/>
            <p:nvPr/>
          </p:nvSpPr>
          <p:spPr>
            <a:xfrm>
              <a:off x="7454095" y="3727439"/>
              <a:ext cx="1226917" cy="4051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1" name="CasellaDiTesto 40">
              <a:extLst>
                <a:ext uri="{FF2B5EF4-FFF2-40B4-BE49-F238E27FC236}">
                  <a16:creationId xmlns:a16="http://schemas.microsoft.com/office/drawing/2014/main" id="{4A41C3D6-5113-2489-E2AE-E56AA08F87E1}"/>
                </a:ext>
              </a:extLst>
            </p:cNvPr>
            <p:cNvSpPr txBox="1"/>
            <p:nvPr/>
          </p:nvSpPr>
          <p:spPr>
            <a:xfrm>
              <a:off x="7785264" y="3732443"/>
              <a:ext cx="564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Ok</a:t>
              </a:r>
              <a:endParaRPr lang="it-IT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75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C494-4307-BC32-97F2-9C2422EEC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uppo 40">
            <a:extLst>
              <a:ext uri="{FF2B5EF4-FFF2-40B4-BE49-F238E27FC236}">
                <a16:creationId xmlns:a16="http://schemas.microsoft.com/office/drawing/2014/main" id="{6FF4C587-3924-01AA-78CB-04095E298D8F}"/>
              </a:ext>
            </a:extLst>
          </p:cNvPr>
          <p:cNvGrpSpPr/>
          <p:nvPr/>
        </p:nvGrpSpPr>
        <p:grpSpPr>
          <a:xfrm>
            <a:off x="1528689" y="1180618"/>
            <a:ext cx="8367665" cy="5288175"/>
            <a:chOff x="1528689" y="1180618"/>
            <a:chExt cx="8367665" cy="5288175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C364CF57-01AB-A743-7501-9F83629C05A7}"/>
                </a:ext>
              </a:extLst>
            </p:cNvPr>
            <p:cNvSpPr/>
            <p:nvPr/>
          </p:nvSpPr>
          <p:spPr>
            <a:xfrm>
              <a:off x="1528689" y="1180618"/>
              <a:ext cx="8367665" cy="5288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u="sng" dirty="0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E015121F-85FA-7D8D-7933-44DA2CE5A0E9}"/>
                </a:ext>
              </a:extLst>
            </p:cNvPr>
            <p:cNvSpPr txBox="1"/>
            <p:nvPr/>
          </p:nvSpPr>
          <p:spPr>
            <a:xfrm>
              <a:off x="2050794" y="2232375"/>
              <a:ext cx="40679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u="sng" dirty="0">
                  <a:solidFill>
                    <a:schemeClr val="accent1"/>
                  </a:solidFill>
                  <a:latin typeface="Cavolini" panose="020B0502040204020203" pitchFamily="66" charset="0"/>
                  <a:cs typeface="Cavolini" panose="020B0502040204020203" pitchFamily="66" charset="0"/>
                </a:rPr>
                <a:t>Crea Issue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5124BD94-9E32-2B91-8D79-72E729C29080}"/>
                </a:ext>
              </a:extLst>
            </p:cNvPr>
            <p:cNvSpPr txBox="1"/>
            <p:nvPr/>
          </p:nvSpPr>
          <p:spPr>
            <a:xfrm>
              <a:off x="2050794" y="3564256"/>
              <a:ext cx="40679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u="sng" dirty="0">
                  <a:latin typeface="Cavolini" panose="020B0502040204020203" pitchFamily="66" charset="0"/>
                  <a:cs typeface="Cavolini" panose="020B0502040204020203" pitchFamily="66" charset="0"/>
                </a:rPr>
                <a:t>Inserisci i dati richiesti per la segnalazione </a:t>
              </a:r>
            </a:p>
          </p:txBody>
        </p:sp>
        <p:grpSp>
          <p:nvGrpSpPr>
            <p:cNvPr id="40" name="Gruppo 39">
              <a:extLst>
                <a:ext uri="{FF2B5EF4-FFF2-40B4-BE49-F238E27FC236}">
                  <a16:creationId xmlns:a16="http://schemas.microsoft.com/office/drawing/2014/main" id="{340F2541-3466-08D5-BB0F-1F23F99E9FCA}"/>
                </a:ext>
              </a:extLst>
            </p:cNvPr>
            <p:cNvGrpSpPr/>
            <p:nvPr/>
          </p:nvGrpSpPr>
          <p:grpSpPr>
            <a:xfrm>
              <a:off x="8110219" y="5916521"/>
              <a:ext cx="1407160" cy="369332"/>
              <a:chOff x="8405251" y="4923896"/>
              <a:chExt cx="1407160" cy="369332"/>
            </a:xfrm>
          </p:grpSpPr>
          <p:sp>
            <p:nvSpPr>
              <p:cNvPr id="24" name="Rettangolo con angoli arrotondati 23">
                <a:extLst>
                  <a:ext uri="{FF2B5EF4-FFF2-40B4-BE49-F238E27FC236}">
                    <a16:creationId xmlns:a16="http://schemas.microsoft.com/office/drawing/2014/main" id="{D211C106-6644-57B1-855D-F7DAF0CA0C51}"/>
                  </a:ext>
                </a:extLst>
              </p:cNvPr>
              <p:cNvSpPr/>
              <p:nvPr/>
            </p:nvSpPr>
            <p:spPr>
              <a:xfrm>
                <a:off x="8405251" y="4939285"/>
                <a:ext cx="1407160" cy="353943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u="sng"/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ACA25003-123E-1230-57E3-6C65C54C8984}"/>
                  </a:ext>
                </a:extLst>
              </p:cNvPr>
              <p:cNvSpPr txBox="1"/>
              <p:nvPr/>
            </p:nvSpPr>
            <p:spPr>
              <a:xfrm>
                <a:off x="8739980" y="4923896"/>
                <a:ext cx="771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 u="sng" dirty="0">
                    <a:solidFill>
                      <a:schemeClr val="bg1"/>
                    </a:solidFill>
                  </a:rPr>
                  <a:t>INVIA</a:t>
                </a:r>
              </a:p>
            </p:txBody>
          </p:sp>
        </p:grpSp>
        <p:grpSp>
          <p:nvGrpSpPr>
            <p:cNvPr id="38" name="Gruppo 37">
              <a:extLst>
                <a:ext uri="{FF2B5EF4-FFF2-40B4-BE49-F238E27FC236}">
                  <a16:creationId xmlns:a16="http://schemas.microsoft.com/office/drawing/2014/main" id="{DDDB2064-FAEF-0B03-3547-0AEC8C6D3469}"/>
                </a:ext>
              </a:extLst>
            </p:cNvPr>
            <p:cNvGrpSpPr/>
            <p:nvPr/>
          </p:nvGrpSpPr>
          <p:grpSpPr>
            <a:xfrm>
              <a:off x="6009318" y="1477383"/>
              <a:ext cx="3098818" cy="731602"/>
              <a:chOff x="6010013" y="1409950"/>
              <a:chExt cx="3098818" cy="731602"/>
            </a:xfrm>
          </p:grpSpPr>
          <p:grpSp>
            <p:nvGrpSpPr>
              <p:cNvPr id="12" name="Gruppo 11">
                <a:extLst>
                  <a:ext uri="{FF2B5EF4-FFF2-40B4-BE49-F238E27FC236}">
                    <a16:creationId xmlns:a16="http://schemas.microsoft.com/office/drawing/2014/main" id="{51AEA559-C430-A66D-56EE-99F037560C4B}"/>
                  </a:ext>
                </a:extLst>
              </p:cNvPr>
              <p:cNvGrpSpPr/>
              <p:nvPr/>
            </p:nvGrpSpPr>
            <p:grpSpPr>
              <a:xfrm>
                <a:off x="6010013" y="1409950"/>
                <a:ext cx="3098818" cy="728151"/>
                <a:chOff x="6010013" y="1409950"/>
                <a:chExt cx="3098818" cy="728151"/>
              </a:xfrm>
            </p:grpSpPr>
            <p:sp>
              <p:nvSpPr>
                <p:cNvPr id="10" name="Rettangolo 9">
                  <a:extLst>
                    <a:ext uri="{FF2B5EF4-FFF2-40B4-BE49-F238E27FC236}">
                      <a16:creationId xmlns:a16="http://schemas.microsoft.com/office/drawing/2014/main" id="{5DE619D1-FD1C-3581-E451-EBE78A234F57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u="sng"/>
                </a:p>
              </p:txBody>
            </p:sp>
            <p:sp>
              <p:nvSpPr>
                <p:cNvPr id="11" name="CasellaDiTesto 10">
                  <a:extLst>
                    <a:ext uri="{FF2B5EF4-FFF2-40B4-BE49-F238E27FC236}">
                      <a16:creationId xmlns:a16="http://schemas.microsoft.com/office/drawing/2014/main" id="{AB8A50F6-6123-039C-8AFA-DA20226F1D4A}"/>
                    </a:ext>
                  </a:extLst>
                </p:cNvPr>
                <p:cNvSpPr txBox="1"/>
                <p:nvPr/>
              </p:nvSpPr>
              <p:spPr>
                <a:xfrm>
                  <a:off x="6010013" y="1409950"/>
                  <a:ext cx="8423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u="sng" dirty="0"/>
                    <a:t>Titolo*</a:t>
                  </a:r>
                </a:p>
              </p:txBody>
            </p:sp>
          </p:grpSp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55E5CC6C-13D2-5B2C-BC92-DDBB7EB86A69}"/>
                  </a:ext>
                </a:extLst>
              </p:cNvPr>
              <p:cNvSpPr txBox="1"/>
              <p:nvPr/>
            </p:nvSpPr>
            <p:spPr>
              <a:xfrm>
                <a:off x="6065019" y="1772220"/>
                <a:ext cx="2225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u="sng" dirty="0">
                    <a:solidFill>
                      <a:srgbClr val="FF0000"/>
                    </a:solidFill>
                  </a:rPr>
                  <a:t>*campo obbligatorio</a:t>
                </a:r>
              </a:p>
            </p:txBody>
          </p:sp>
        </p:grpSp>
        <p:grpSp>
          <p:nvGrpSpPr>
            <p:cNvPr id="39" name="Gruppo 38">
              <a:extLst>
                <a:ext uri="{FF2B5EF4-FFF2-40B4-BE49-F238E27FC236}">
                  <a16:creationId xmlns:a16="http://schemas.microsoft.com/office/drawing/2014/main" id="{2DDA3A85-CE9F-76FF-3F0F-0D44328D0F3F}"/>
                </a:ext>
              </a:extLst>
            </p:cNvPr>
            <p:cNvGrpSpPr/>
            <p:nvPr/>
          </p:nvGrpSpPr>
          <p:grpSpPr>
            <a:xfrm>
              <a:off x="5973757" y="2335033"/>
              <a:ext cx="2840042" cy="1386119"/>
              <a:chOff x="6009318" y="2211047"/>
              <a:chExt cx="2840042" cy="1386119"/>
            </a:xfrm>
          </p:grpSpPr>
          <p:grpSp>
            <p:nvGrpSpPr>
              <p:cNvPr id="13" name="Gruppo 12">
                <a:extLst>
                  <a:ext uri="{FF2B5EF4-FFF2-40B4-BE49-F238E27FC236}">
                    <a16:creationId xmlns:a16="http://schemas.microsoft.com/office/drawing/2014/main" id="{CC932065-BB2B-A8EF-129E-7CBC44A2BCE4}"/>
                  </a:ext>
                </a:extLst>
              </p:cNvPr>
              <p:cNvGrpSpPr/>
              <p:nvPr/>
            </p:nvGrpSpPr>
            <p:grpSpPr>
              <a:xfrm>
                <a:off x="6009318" y="2211047"/>
                <a:ext cx="2840042" cy="1386119"/>
                <a:chOff x="6001149" y="1659032"/>
                <a:chExt cx="3107682" cy="479069"/>
              </a:xfrm>
            </p:grpSpPr>
            <p:sp>
              <p:nvSpPr>
                <p:cNvPr id="14" name="Rettangolo 13">
                  <a:extLst>
                    <a:ext uri="{FF2B5EF4-FFF2-40B4-BE49-F238E27FC236}">
                      <a16:creationId xmlns:a16="http://schemas.microsoft.com/office/drawing/2014/main" id="{D1E93D98-3318-3A32-967A-AF682C9E3740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u="sng"/>
                </a:p>
              </p:txBody>
            </p:sp>
            <p:sp>
              <p:nvSpPr>
                <p:cNvPr id="15" name="CasellaDiTesto 14">
                  <a:extLst>
                    <a:ext uri="{FF2B5EF4-FFF2-40B4-BE49-F238E27FC236}">
                      <a16:creationId xmlns:a16="http://schemas.microsoft.com/office/drawing/2014/main" id="{C1A95EFA-B5DA-03EA-2788-B26BFF13E906}"/>
                    </a:ext>
                  </a:extLst>
                </p:cNvPr>
                <p:cNvSpPr txBox="1"/>
                <p:nvPr/>
              </p:nvSpPr>
              <p:spPr>
                <a:xfrm>
                  <a:off x="6001149" y="1659032"/>
                  <a:ext cx="1605322" cy="1276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u="sng" dirty="0"/>
                    <a:t>Descrizione*</a:t>
                  </a:r>
                </a:p>
              </p:txBody>
            </p:sp>
          </p:grpSp>
          <p:sp>
            <p:nvSpPr>
              <p:cNvPr id="30" name="CasellaDiTesto 29">
                <a:extLst>
                  <a:ext uri="{FF2B5EF4-FFF2-40B4-BE49-F238E27FC236}">
                    <a16:creationId xmlns:a16="http://schemas.microsoft.com/office/drawing/2014/main" id="{9931331B-2753-0337-6E21-C75E7058ECDD}"/>
                  </a:ext>
                </a:extLst>
              </p:cNvPr>
              <p:cNvSpPr txBox="1"/>
              <p:nvPr/>
            </p:nvSpPr>
            <p:spPr>
              <a:xfrm>
                <a:off x="6070676" y="2591288"/>
                <a:ext cx="22254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u="sng" dirty="0">
                    <a:solidFill>
                      <a:srgbClr val="FF0000"/>
                    </a:solidFill>
                  </a:rPr>
                  <a:t>*campo obbligatorio</a:t>
                </a:r>
              </a:p>
            </p:txBody>
          </p:sp>
        </p:grpSp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9239B9A6-8A49-718C-49DC-75EE2ADADB95}"/>
                </a:ext>
              </a:extLst>
            </p:cNvPr>
            <p:cNvGrpSpPr/>
            <p:nvPr/>
          </p:nvGrpSpPr>
          <p:grpSpPr>
            <a:xfrm>
              <a:off x="6009318" y="4680074"/>
              <a:ext cx="1956121" cy="677500"/>
              <a:chOff x="6009319" y="4148609"/>
              <a:chExt cx="1956121" cy="677500"/>
            </a:xfrm>
          </p:grpSpPr>
          <p:grpSp>
            <p:nvGrpSpPr>
              <p:cNvPr id="20" name="Gruppo 19">
                <a:extLst>
                  <a:ext uri="{FF2B5EF4-FFF2-40B4-BE49-F238E27FC236}">
                    <a16:creationId xmlns:a16="http://schemas.microsoft.com/office/drawing/2014/main" id="{39821561-70B5-373C-DB34-9FA964229D49}"/>
                  </a:ext>
                </a:extLst>
              </p:cNvPr>
              <p:cNvGrpSpPr/>
              <p:nvPr/>
            </p:nvGrpSpPr>
            <p:grpSpPr>
              <a:xfrm>
                <a:off x="6009319" y="4148609"/>
                <a:ext cx="1956121" cy="677500"/>
                <a:chOff x="5956303" y="1460601"/>
                <a:chExt cx="3152528" cy="677500"/>
              </a:xfrm>
            </p:grpSpPr>
            <p:sp>
              <p:nvSpPr>
                <p:cNvPr id="21" name="Rettangolo 20">
                  <a:extLst>
                    <a:ext uri="{FF2B5EF4-FFF2-40B4-BE49-F238E27FC236}">
                      <a16:creationId xmlns:a16="http://schemas.microsoft.com/office/drawing/2014/main" id="{FBAE374D-239B-F721-54F7-C7970BAD64C9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u="sng"/>
                </a:p>
              </p:txBody>
            </p:sp>
            <p:sp>
              <p:nvSpPr>
                <p:cNvPr id="22" name="CasellaDiTesto 21">
                  <a:extLst>
                    <a:ext uri="{FF2B5EF4-FFF2-40B4-BE49-F238E27FC236}">
                      <a16:creationId xmlns:a16="http://schemas.microsoft.com/office/drawing/2014/main" id="{013AA961-C591-6758-6B1E-1B7D0B6CFFEE}"/>
                    </a:ext>
                  </a:extLst>
                </p:cNvPr>
                <p:cNvSpPr txBox="1"/>
                <p:nvPr/>
              </p:nvSpPr>
              <p:spPr>
                <a:xfrm>
                  <a:off x="5956303" y="1460601"/>
                  <a:ext cx="14550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u="sng" dirty="0"/>
                    <a:t>Priorità</a:t>
                  </a:r>
                </a:p>
              </p:txBody>
            </p:sp>
          </p:grpSp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67DE87E3-7EFA-909A-79FF-74E4DF8F678E}"/>
                  </a:ext>
                </a:extLst>
              </p:cNvPr>
              <p:cNvSpPr txBox="1"/>
              <p:nvPr/>
            </p:nvSpPr>
            <p:spPr>
              <a:xfrm>
                <a:off x="6095304" y="4452178"/>
                <a:ext cx="64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u="sng" dirty="0">
                    <a:solidFill>
                      <a:schemeClr val="bg1">
                        <a:lumMod val="65000"/>
                      </a:schemeClr>
                    </a:solidFill>
                  </a:rPr>
                  <a:t>High</a:t>
                </a:r>
              </a:p>
            </p:txBody>
          </p:sp>
        </p:grpSp>
        <p:sp>
          <p:nvSpPr>
            <p:cNvPr id="23" name="Triangolo isoscele 22">
              <a:extLst>
                <a:ext uri="{FF2B5EF4-FFF2-40B4-BE49-F238E27FC236}">
                  <a16:creationId xmlns:a16="http://schemas.microsoft.com/office/drawing/2014/main" id="{83A2FDAC-984D-7691-F70E-7A4342FE6B7E}"/>
                </a:ext>
              </a:extLst>
            </p:cNvPr>
            <p:cNvSpPr/>
            <p:nvPr/>
          </p:nvSpPr>
          <p:spPr>
            <a:xfrm rot="10800000">
              <a:off x="7652521" y="5108562"/>
              <a:ext cx="226558" cy="144947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u="sng"/>
            </a:p>
          </p:txBody>
        </p:sp>
        <p:grpSp>
          <p:nvGrpSpPr>
            <p:cNvPr id="37" name="Gruppo 36">
              <a:extLst>
                <a:ext uri="{FF2B5EF4-FFF2-40B4-BE49-F238E27FC236}">
                  <a16:creationId xmlns:a16="http://schemas.microsoft.com/office/drawing/2014/main" id="{6A3E8A68-807E-9C59-0635-4F14DEA13B88}"/>
                </a:ext>
              </a:extLst>
            </p:cNvPr>
            <p:cNvGrpSpPr/>
            <p:nvPr/>
          </p:nvGrpSpPr>
          <p:grpSpPr>
            <a:xfrm>
              <a:off x="6009318" y="3754420"/>
              <a:ext cx="1956121" cy="709107"/>
              <a:chOff x="6009318" y="3754420"/>
              <a:chExt cx="1956121" cy="709107"/>
            </a:xfrm>
          </p:grpSpPr>
          <p:grpSp>
            <p:nvGrpSpPr>
              <p:cNvPr id="35" name="Gruppo 34">
                <a:extLst>
                  <a:ext uri="{FF2B5EF4-FFF2-40B4-BE49-F238E27FC236}">
                    <a16:creationId xmlns:a16="http://schemas.microsoft.com/office/drawing/2014/main" id="{8BE7BE98-C8EA-E2C2-E501-30A3B8D09A52}"/>
                  </a:ext>
                </a:extLst>
              </p:cNvPr>
              <p:cNvGrpSpPr/>
              <p:nvPr/>
            </p:nvGrpSpPr>
            <p:grpSpPr>
              <a:xfrm>
                <a:off x="6009318" y="3754420"/>
                <a:ext cx="1956121" cy="709107"/>
                <a:chOff x="6009319" y="3537249"/>
                <a:chExt cx="1956121" cy="709107"/>
              </a:xfrm>
            </p:grpSpPr>
            <p:grpSp>
              <p:nvGrpSpPr>
                <p:cNvPr id="16" name="Gruppo 15">
                  <a:extLst>
                    <a:ext uri="{FF2B5EF4-FFF2-40B4-BE49-F238E27FC236}">
                      <a16:creationId xmlns:a16="http://schemas.microsoft.com/office/drawing/2014/main" id="{57B224C5-80DD-2C21-D875-509F607FE4F4}"/>
                    </a:ext>
                  </a:extLst>
                </p:cNvPr>
                <p:cNvGrpSpPr/>
                <p:nvPr/>
              </p:nvGrpSpPr>
              <p:grpSpPr>
                <a:xfrm>
                  <a:off x="6009319" y="3537249"/>
                  <a:ext cx="1956121" cy="709107"/>
                  <a:chOff x="5956303" y="1428994"/>
                  <a:chExt cx="3152528" cy="709107"/>
                </a:xfrm>
              </p:grpSpPr>
              <p:sp>
                <p:nvSpPr>
                  <p:cNvPr id="17" name="Rettangolo 16">
                    <a:extLst>
                      <a:ext uri="{FF2B5EF4-FFF2-40B4-BE49-F238E27FC236}">
                        <a16:creationId xmlns:a16="http://schemas.microsoft.com/office/drawing/2014/main" id="{B158B8C0-0C52-A0D4-B4FE-3D37C5E10BBC}"/>
                      </a:ext>
                    </a:extLst>
                  </p:cNvPr>
                  <p:cNvSpPr/>
                  <p:nvPr/>
                </p:nvSpPr>
                <p:spPr>
                  <a:xfrm>
                    <a:off x="6096000" y="1784158"/>
                    <a:ext cx="3012831" cy="35394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u="sng"/>
                  </a:p>
                </p:txBody>
              </p:sp>
              <p:sp>
                <p:nvSpPr>
                  <p:cNvPr id="18" name="CasellaDiTesto 17">
                    <a:extLst>
                      <a:ext uri="{FF2B5EF4-FFF2-40B4-BE49-F238E27FC236}">
                        <a16:creationId xmlns:a16="http://schemas.microsoft.com/office/drawing/2014/main" id="{1DAF559F-F728-F226-91F4-88AD9FE8003A}"/>
                      </a:ext>
                    </a:extLst>
                  </p:cNvPr>
                  <p:cNvSpPr txBox="1"/>
                  <p:nvPr/>
                </p:nvSpPr>
                <p:spPr>
                  <a:xfrm>
                    <a:off x="5956303" y="1428994"/>
                    <a:ext cx="97705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it-IT" u="sng" dirty="0"/>
                      <a:t>Tipo</a:t>
                    </a:r>
                  </a:p>
                </p:txBody>
              </p:sp>
            </p:grpSp>
            <p:sp>
              <p:nvSpPr>
                <p:cNvPr id="32" name="CasellaDiTesto 31">
                  <a:extLst>
                    <a:ext uri="{FF2B5EF4-FFF2-40B4-BE49-F238E27FC236}">
                      <a16:creationId xmlns:a16="http://schemas.microsoft.com/office/drawing/2014/main" id="{89926CA9-EF69-1C2A-1BC3-75D2AA7C19E4}"/>
                    </a:ext>
                  </a:extLst>
                </p:cNvPr>
                <p:cNvSpPr txBox="1"/>
                <p:nvPr/>
              </p:nvSpPr>
              <p:spPr>
                <a:xfrm>
                  <a:off x="6095999" y="3873732"/>
                  <a:ext cx="5645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u="sng" dirty="0">
                      <a:solidFill>
                        <a:schemeClr val="bg1">
                          <a:lumMod val="65000"/>
                        </a:schemeClr>
                      </a:solidFill>
                    </a:rPr>
                    <a:t>Bug</a:t>
                  </a:r>
                </a:p>
              </p:txBody>
            </p:sp>
          </p:grpSp>
          <p:sp>
            <p:nvSpPr>
              <p:cNvPr id="19" name="Triangolo isoscele 18">
                <a:extLst>
                  <a:ext uri="{FF2B5EF4-FFF2-40B4-BE49-F238E27FC236}">
                    <a16:creationId xmlns:a16="http://schemas.microsoft.com/office/drawing/2014/main" id="{094C4710-6C31-BCBA-0E00-AAB88EF476CC}"/>
                  </a:ext>
                </a:extLst>
              </p:cNvPr>
              <p:cNvSpPr/>
              <p:nvPr/>
            </p:nvSpPr>
            <p:spPr>
              <a:xfrm rot="10800000">
                <a:off x="7652521" y="4227925"/>
                <a:ext cx="226558" cy="144947"/>
              </a:xfrm>
              <a:prstGeom prst="triangl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u="sn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742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035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09A72-508E-3BDC-AAB7-96C2B639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uppo 60">
            <a:extLst>
              <a:ext uri="{FF2B5EF4-FFF2-40B4-BE49-F238E27FC236}">
                <a16:creationId xmlns:a16="http://schemas.microsoft.com/office/drawing/2014/main" id="{EDA01E98-D60F-6DAD-CC52-3888144F47B6}"/>
              </a:ext>
            </a:extLst>
          </p:cNvPr>
          <p:cNvGrpSpPr/>
          <p:nvPr/>
        </p:nvGrpSpPr>
        <p:grpSpPr>
          <a:xfrm>
            <a:off x="1528689" y="1180618"/>
            <a:ext cx="8367665" cy="5288175"/>
            <a:chOff x="1528689" y="1180618"/>
            <a:chExt cx="8367665" cy="5288175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60FF1E67-FE3A-160A-BD04-620B8620F4EB}"/>
                </a:ext>
              </a:extLst>
            </p:cNvPr>
            <p:cNvSpPr/>
            <p:nvPr/>
          </p:nvSpPr>
          <p:spPr>
            <a:xfrm>
              <a:off x="1528689" y="1180618"/>
              <a:ext cx="8367665" cy="52881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2043FD42-2319-7F72-2DCD-3A40C78DAC9D}"/>
                </a:ext>
              </a:extLst>
            </p:cNvPr>
            <p:cNvSpPr txBox="1"/>
            <p:nvPr/>
          </p:nvSpPr>
          <p:spPr>
            <a:xfrm>
              <a:off x="2028092" y="1784775"/>
              <a:ext cx="40679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4000" b="1" dirty="0">
                  <a:solidFill>
                    <a:schemeClr val="accent1"/>
                  </a:solidFill>
                  <a:latin typeface="Cavolini" panose="020B0502040204020203" pitchFamily="66" charset="0"/>
                  <a:cs typeface="Cavolini" panose="020B0502040204020203" pitchFamily="66" charset="0"/>
                </a:rPr>
                <a:t>Assegna Issue</a:t>
              </a:r>
            </a:p>
          </p:txBody>
        </p:sp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86A7E544-18AC-1A9E-0777-C83F991143C5}"/>
                </a:ext>
              </a:extLst>
            </p:cNvPr>
            <p:cNvSpPr txBox="1"/>
            <p:nvPr/>
          </p:nvSpPr>
          <p:spPr>
            <a:xfrm>
              <a:off x="2008481" y="2492661"/>
              <a:ext cx="21966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latin typeface="Cavolini" panose="020B0502040204020203" pitchFamily="66" charset="0"/>
                  <a:cs typeface="Cavolini" panose="020B0502040204020203" pitchFamily="66" charset="0"/>
                </a:rPr>
                <a:t>Seleziona una Issue ed un utente a cui assegnarla</a:t>
              </a:r>
            </a:p>
          </p:txBody>
        </p:sp>
        <p:grpSp>
          <p:nvGrpSpPr>
            <p:cNvPr id="40" name="Gruppo 39">
              <a:extLst>
                <a:ext uri="{FF2B5EF4-FFF2-40B4-BE49-F238E27FC236}">
                  <a16:creationId xmlns:a16="http://schemas.microsoft.com/office/drawing/2014/main" id="{0A407E71-DA1E-D080-5E61-11EDC1DAFB67}"/>
                </a:ext>
              </a:extLst>
            </p:cNvPr>
            <p:cNvGrpSpPr/>
            <p:nvPr/>
          </p:nvGrpSpPr>
          <p:grpSpPr>
            <a:xfrm>
              <a:off x="8110219" y="5916521"/>
              <a:ext cx="1407160" cy="369332"/>
              <a:chOff x="8405251" y="4923896"/>
              <a:chExt cx="1407160" cy="369332"/>
            </a:xfrm>
          </p:grpSpPr>
          <p:sp>
            <p:nvSpPr>
              <p:cNvPr id="24" name="Rettangolo con angoli arrotondati 23">
                <a:extLst>
                  <a:ext uri="{FF2B5EF4-FFF2-40B4-BE49-F238E27FC236}">
                    <a16:creationId xmlns:a16="http://schemas.microsoft.com/office/drawing/2014/main" id="{A9885B68-F876-9F72-DE19-CD16749CADC7}"/>
                  </a:ext>
                </a:extLst>
              </p:cNvPr>
              <p:cNvSpPr/>
              <p:nvPr/>
            </p:nvSpPr>
            <p:spPr>
              <a:xfrm>
                <a:off x="8405251" y="4939285"/>
                <a:ext cx="1407160" cy="353943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5138CC53-33C8-979F-36B7-83325DACD4B1}"/>
                  </a:ext>
                </a:extLst>
              </p:cNvPr>
              <p:cNvSpPr txBox="1"/>
              <p:nvPr/>
            </p:nvSpPr>
            <p:spPr>
              <a:xfrm>
                <a:off x="8739980" y="4923896"/>
                <a:ext cx="7713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 dirty="0">
                    <a:solidFill>
                      <a:schemeClr val="bg1"/>
                    </a:solidFill>
                  </a:rPr>
                  <a:t>INVIA</a:t>
                </a:r>
              </a:p>
            </p:txBody>
          </p:sp>
        </p:grpSp>
        <p:grpSp>
          <p:nvGrpSpPr>
            <p:cNvPr id="47" name="Gruppo 46">
              <a:extLst>
                <a:ext uri="{FF2B5EF4-FFF2-40B4-BE49-F238E27FC236}">
                  <a16:creationId xmlns:a16="http://schemas.microsoft.com/office/drawing/2014/main" id="{D4E7128D-1080-306B-CE8E-444D8A8A5AF1}"/>
                </a:ext>
              </a:extLst>
            </p:cNvPr>
            <p:cNvGrpSpPr/>
            <p:nvPr/>
          </p:nvGrpSpPr>
          <p:grpSpPr>
            <a:xfrm>
              <a:off x="4983423" y="3024186"/>
              <a:ext cx="1956122" cy="2100677"/>
              <a:chOff x="2125576" y="3115288"/>
              <a:chExt cx="1956122" cy="2100677"/>
            </a:xfrm>
          </p:grpSpPr>
          <p:grpSp>
            <p:nvGrpSpPr>
              <p:cNvPr id="16" name="Gruppo 15">
                <a:extLst>
                  <a:ext uri="{FF2B5EF4-FFF2-40B4-BE49-F238E27FC236}">
                    <a16:creationId xmlns:a16="http://schemas.microsoft.com/office/drawing/2014/main" id="{7BD4AE44-F5DD-BBAF-C833-DD984870ED9C}"/>
                  </a:ext>
                </a:extLst>
              </p:cNvPr>
              <p:cNvGrpSpPr/>
              <p:nvPr/>
            </p:nvGrpSpPr>
            <p:grpSpPr>
              <a:xfrm>
                <a:off x="2125576" y="3115288"/>
                <a:ext cx="1956122" cy="709107"/>
                <a:chOff x="5956302" y="1428994"/>
                <a:chExt cx="3152529" cy="709107"/>
              </a:xfrm>
            </p:grpSpPr>
            <p:sp>
              <p:nvSpPr>
                <p:cNvPr id="17" name="Rettangolo 16">
                  <a:extLst>
                    <a:ext uri="{FF2B5EF4-FFF2-40B4-BE49-F238E27FC236}">
                      <a16:creationId xmlns:a16="http://schemas.microsoft.com/office/drawing/2014/main" id="{62E50E7D-CEAB-B545-0BE8-92ED55F885A8}"/>
                    </a:ext>
                  </a:extLst>
                </p:cNvPr>
                <p:cNvSpPr/>
                <p:nvPr/>
              </p:nvSpPr>
              <p:spPr>
                <a:xfrm>
                  <a:off x="6096001" y="1784158"/>
                  <a:ext cx="3012830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sp>
              <p:nvSpPr>
                <p:cNvPr id="18" name="CasellaDiTesto 17">
                  <a:extLst>
                    <a:ext uri="{FF2B5EF4-FFF2-40B4-BE49-F238E27FC236}">
                      <a16:creationId xmlns:a16="http://schemas.microsoft.com/office/drawing/2014/main" id="{E3357452-31BF-CBFA-25A0-15AA3EE2A58B}"/>
                    </a:ext>
                  </a:extLst>
                </p:cNvPr>
                <p:cNvSpPr txBox="1"/>
                <p:nvPr/>
              </p:nvSpPr>
              <p:spPr>
                <a:xfrm>
                  <a:off x="5956302" y="1428994"/>
                  <a:ext cx="27829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/>
                    <a:t>Seleziona Issue</a:t>
                  </a:r>
                </a:p>
              </p:txBody>
            </p:sp>
          </p:grpSp>
          <p:sp>
            <p:nvSpPr>
              <p:cNvPr id="19" name="Triangolo isoscele 18">
                <a:extLst>
                  <a:ext uri="{FF2B5EF4-FFF2-40B4-BE49-F238E27FC236}">
                    <a16:creationId xmlns:a16="http://schemas.microsoft.com/office/drawing/2014/main" id="{8A629F7C-304E-1AD8-E8BF-30D9AEFFD90E}"/>
                  </a:ext>
                </a:extLst>
              </p:cNvPr>
              <p:cNvSpPr/>
              <p:nvPr/>
            </p:nvSpPr>
            <p:spPr>
              <a:xfrm rot="10800000">
                <a:off x="3768779" y="3588793"/>
                <a:ext cx="226558" cy="144947"/>
              </a:xfrm>
              <a:prstGeom prst="triangl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0AAF340D-7FAB-F1E2-0531-EB7EACE32327}"/>
                  </a:ext>
                </a:extLst>
              </p:cNvPr>
              <p:cNvSpPr/>
              <p:nvPr/>
            </p:nvSpPr>
            <p:spPr>
              <a:xfrm>
                <a:off x="2212256" y="3829900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DCC6C251-4149-D01E-A343-FE911F15A2C2}"/>
                  </a:ext>
                </a:extLst>
              </p:cNvPr>
              <p:cNvSpPr/>
              <p:nvPr/>
            </p:nvSpPr>
            <p:spPr>
              <a:xfrm>
                <a:off x="2212256" y="4154136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7" name="Rettangolo 26">
                <a:extLst>
                  <a:ext uri="{FF2B5EF4-FFF2-40B4-BE49-F238E27FC236}">
                    <a16:creationId xmlns:a16="http://schemas.microsoft.com/office/drawing/2014/main" id="{78D71D60-CF8A-AF92-B049-695D95BCAC58}"/>
                  </a:ext>
                </a:extLst>
              </p:cNvPr>
              <p:cNvSpPr/>
              <p:nvPr/>
            </p:nvSpPr>
            <p:spPr>
              <a:xfrm>
                <a:off x="2212256" y="4508079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1" name="Rettangolo 30">
                <a:extLst>
                  <a:ext uri="{FF2B5EF4-FFF2-40B4-BE49-F238E27FC236}">
                    <a16:creationId xmlns:a16="http://schemas.microsoft.com/office/drawing/2014/main" id="{7071B78A-7DD9-288A-C4EF-0ADA9FE89D04}"/>
                  </a:ext>
                </a:extLst>
              </p:cNvPr>
              <p:cNvSpPr/>
              <p:nvPr/>
            </p:nvSpPr>
            <p:spPr>
              <a:xfrm>
                <a:off x="2212256" y="4862022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2" name="CasellaDiTesto 31">
                <a:extLst>
                  <a:ext uri="{FF2B5EF4-FFF2-40B4-BE49-F238E27FC236}">
                    <a16:creationId xmlns:a16="http://schemas.microsoft.com/office/drawing/2014/main" id="{26FFF65F-4991-C6BF-CB07-A5F9AEF3B161}"/>
                  </a:ext>
                </a:extLst>
              </p:cNvPr>
              <p:cNvSpPr txBox="1"/>
              <p:nvPr/>
            </p:nvSpPr>
            <p:spPr>
              <a:xfrm>
                <a:off x="2239527" y="3792499"/>
                <a:ext cx="841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Issue1</a:t>
                </a:r>
              </a:p>
            </p:txBody>
          </p:sp>
          <p:sp>
            <p:nvSpPr>
              <p:cNvPr id="42" name="CasellaDiTesto 41">
                <a:extLst>
                  <a:ext uri="{FF2B5EF4-FFF2-40B4-BE49-F238E27FC236}">
                    <a16:creationId xmlns:a16="http://schemas.microsoft.com/office/drawing/2014/main" id="{B3A5F438-DCFB-29F1-9A58-866D67155EBB}"/>
                  </a:ext>
                </a:extLst>
              </p:cNvPr>
              <p:cNvSpPr txBox="1"/>
              <p:nvPr/>
            </p:nvSpPr>
            <p:spPr>
              <a:xfrm>
                <a:off x="2212255" y="4139283"/>
                <a:ext cx="841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Issue2</a:t>
                </a:r>
              </a:p>
            </p:txBody>
          </p:sp>
          <p:sp>
            <p:nvSpPr>
              <p:cNvPr id="44" name="CasellaDiTesto 43">
                <a:extLst>
                  <a:ext uri="{FF2B5EF4-FFF2-40B4-BE49-F238E27FC236}">
                    <a16:creationId xmlns:a16="http://schemas.microsoft.com/office/drawing/2014/main" id="{035DB75E-D7BD-5F71-3ED0-D6271392EA7C}"/>
                  </a:ext>
                </a:extLst>
              </p:cNvPr>
              <p:cNvSpPr txBox="1"/>
              <p:nvPr/>
            </p:nvSpPr>
            <p:spPr>
              <a:xfrm>
                <a:off x="2239526" y="4486067"/>
                <a:ext cx="841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Issue3</a:t>
                </a:r>
              </a:p>
            </p:txBody>
          </p: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DE7FFD62-E105-FA2B-BCDD-E2247292CA12}"/>
                  </a:ext>
                </a:extLst>
              </p:cNvPr>
              <p:cNvSpPr txBox="1"/>
              <p:nvPr/>
            </p:nvSpPr>
            <p:spPr>
              <a:xfrm>
                <a:off x="2212254" y="4839474"/>
                <a:ext cx="841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Issue4</a:t>
                </a:r>
              </a:p>
            </p:txBody>
          </p:sp>
        </p:grpSp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87EEADDD-84EA-8B69-3FEC-5CDF2E4E05E9}"/>
                </a:ext>
              </a:extLst>
            </p:cNvPr>
            <p:cNvGrpSpPr/>
            <p:nvPr/>
          </p:nvGrpSpPr>
          <p:grpSpPr>
            <a:xfrm>
              <a:off x="7323039" y="2988109"/>
              <a:ext cx="1956122" cy="2100677"/>
              <a:chOff x="2125576" y="3115288"/>
              <a:chExt cx="1956122" cy="2100677"/>
            </a:xfrm>
          </p:grpSpPr>
          <p:grpSp>
            <p:nvGrpSpPr>
              <p:cNvPr id="49" name="Gruppo 48">
                <a:extLst>
                  <a:ext uri="{FF2B5EF4-FFF2-40B4-BE49-F238E27FC236}">
                    <a16:creationId xmlns:a16="http://schemas.microsoft.com/office/drawing/2014/main" id="{ADDDB11A-477A-FC4B-51ED-A225156F7378}"/>
                  </a:ext>
                </a:extLst>
              </p:cNvPr>
              <p:cNvGrpSpPr/>
              <p:nvPr/>
            </p:nvGrpSpPr>
            <p:grpSpPr>
              <a:xfrm>
                <a:off x="2125576" y="3115288"/>
                <a:ext cx="1956122" cy="709107"/>
                <a:chOff x="5956302" y="1428994"/>
                <a:chExt cx="3152529" cy="709107"/>
              </a:xfrm>
            </p:grpSpPr>
            <p:sp>
              <p:nvSpPr>
                <p:cNvPr id="59" name="Rettangolo 58">
                  <a:extLst>
                    <a:ext uri="{FF2B5EF4-FFF2-40B4-BE49-F238E27FC236}">
                      <a16:creationId xmlns:a16="http://schemas.microsoft.com/office/drawing/2014/main" id="{4D9AD88A-E90D-F650-47A0-483C4B9BE3D2}"/>
                    </a:ext>
                  </a:extLst>
                </p:cNvPr>
                <p:cNvSpPr/>
                <p:nvPr/>
              </p:nvSpPr>
              <p:spPr>
                <a:xfrm>
                  <a:off x="6096000" y="1784158"/>
                  <a:ext cx="3012831" cy="3539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sp>
              <p:nvSpPr>
                <p:cNvPr id="60" name="CasellaDiTesto 59">
                  <a:extLst>
                    <a:ext uri="{FF2B5EF4-FFF2-40B4-BE49-F238E27FC236}">
                      <a16:creationId xmlns:a16="http://schemas.microsoft.com/office/drawing/2014/main" id="{EB88FF8D-2076-3B38-FD54-9D6023D8B68B}"/>
                    </a:ext>
                  </a:extLst>
                </p:cNvPr>
                <p:cNvSpPr txBox="1"/>
                <p:nvPr/>
              </p:nvSpPr>
              <p:spPr>
                <a:xfrm>
                  <a:off x="5956302" y="1428994"/>
                  <a:ext cx="30117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dirty="0"/>
                    <a:t>Seleziona Utente</a:t>
                  </a:r>
                </a:p>
              </p:txBody>
            </p:sp>
          </p:grpSp>
          <p:sp>
            <p:nvSpPr>
              <p:cNvPr id="50" name="Triangolo isoscele 49">
                <a:extLst>
                  <a:ext uri="{FF2B5EF4-FFF2-40B4-BE49-F238E27FC236}">
                    <a16:creationId xmlns:a16="http://schemas.microsoft.com/office/drawing/2014/main" id="{A0DA2796-52AF-D6B9-35AD-7F8988B54D8D}"/>
                  </a:ext>
                </a:extLst>
              </p:cNvPr>
              <p:cNvSpPr/>
              <p:nvPr/>
            </p:nvSpPr>
            <p:spPr>
              <a:xfrm rot="10800000">
                <a:off x="3768779" y="3588793"/>
                <a:ext cx="226558" cy="144947"/>
              </a:xfrm>
              <a:prstGeom prst="triangl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1" name="Rettangolo 50">
                <a:extLst>
                  <a:ext uri="{FF2B5EF4-FFF2-40B4-BE49-F238E27FC236}">
                    <a16:creationId xmlns:a16="http://schemas.microsoft.com/office/drawing/2014/main" id="{B3CC5E55-8759-2C64-3AF3-5A22B152744A}"/>
                  </a:ext>
                </a:extLst>
              </p:cNvPr>
              <p:cNvSpPr/>
              <p:nvPr/>
            </p:nvSpPr>
            <p:spPr>
              <a:xfrm>
                <a:off x="2212256" y="3829900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2" name="Rettangolo 51">
                <a:extLst>
                  <a:ext uri="{FF2B5EF4-FFF2-40B4-BE49-F238E27FC236}">
                    <a16:creationId xmlns:a16="http://schemas.microsoft.com/office/drawing/2014/main" id="{99AC726D-823B-9AD0-17A2-59177D71FF5D}"/>
                  </a:ext>
                </a:extLst>
              </p:cNvPr>
              <p:cNvSpPr/>
              <p:nvPr/>
            </p:nvSpPr>
            <p:spPr>
              <a:xfrm>
                <a:off x="2212256" y="4154136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3" name="Rettangolo 52">
                <a:extLst>
                  <a:ext uri="{FF2B5EF4-FFF2-40B4-BE49-F238E27FC236}">
                    <a16:creationId xmlns:a16="http://schemas.microsoft.com/office/drawing/2014/main" id="{FA981ED3-7E61-13BB-7510-0D17E9641BCE}"/>
                  </a:ext>
                </a:extLst>
              </p:cNvPr>
              <p:cNvSpPr/>
              <p:nvPr/>
            </p:nvSpPr>
            <p:spPr>
              <a:xfrm>
                <a:off x="2212256" y="4508079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4" name="Rettangolo 53">
                <a:extLst>
                  <a:ext uri="{FF2B5EF4-FFF2-40B4-BE49-F238E27FC236}">
                    <a16:creationId xmlns:a16="http://schemas.microsoft.com/office/drawing/2014/main" id="{86B74CD6-C916-F230-174B-AD2E60038FD7}"/>
                  </a:ext>
                </a:extLst>
              </p:cNvPr>
              <p:cNvSpPr/>
              <p:nvPr/>
            </p:nvSpPr>
            <p:spPr>
              <a:xfrm>
                <a:off x="2212256" y="4862022"/>
                <a:ext cx="1869440" cy="3539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55" name="CasellaDiTesto 54">
                <a:extLst>
                  <a:ext uri="{FF2B5EF4-FFF2-40B4-BE49-F238E27FC236}">
                    <a16:creationId xmlns:a16="http://schemas.microsoft.com/office/drawing/2014/main" id="{D6EBA665-2AC4-EA85-76D7-662588733BB5}"/>
                  </a:ext>
                </a:extLst>
              </p:cNvPr>
              <p:cNvSpPr txBox="1"/>
              <p:nvPr/>
            </p:nvSpPr>
            <p:spPr>
              <a:xfrm>
                <a:off x="2239527" y="3792499"/>
                <a:ext cx="983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Utente1</a:t>
                </a:r>
              </a:p>
            </p:txBody>
          </p:sp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049B3513-3872-CC1E-25F3-624DD6B83D65}"/>
                  </a:ext>
                </a:extLst>
              </p:cNvPr>
              <p:cNvSpPr txBox="1"/>
              <p:nvPr/>
            </p:nvSpPr>
            <p:spPr>
              <a:xfrm>
                <a:off x="2212255" y="4139283"/>
                <a:ext cx="983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Utente2</a:t>
                </a:r>
              </a:p>
            </p:txBody>
          </p: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E7FA6D5F-921B-CE72-DC46-00E7F9889253}"/>
                  </a:ext>
                </a:extLst>
              </p:cNvPr>
              <p:cNvSpPr txBox="1"/>
              <p:nvPr/>
            </p:nvSpPr>
            <p:spPr>
              <a:xfrm>
                <a:off x="2239526" y="4486067"/>
                <a:ext cx="983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Utente3</a:t>
                </a:r>
              </a:p>
            </p:txBody>
          </p:sp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3E940274-B319-F54B-E677-5064DC530C71}"/>
                  </a:ext>
                </a:extLst>
              </p:cNvPr>
              <p:cNvSpPr txBox="1"/>
              <p:nvPr/>
            </p:nvSpPr>
            <p:spPr>
              <a:xfrm>
                <a:off x="2212254" y="4839474"/>
                <a:ext cx="983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/>
                  <a:t>Utente4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128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75445-0625-71DE-B433-6FB40EF6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432F99C-4D87-FCBE-BE35-7E3EFDF4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88" y="774443"/>
            <a:ext cx="8387623" cy="5309113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EA2F39E3-46B8-722C-AFA7-ECC64DCED1EF}"/>
              </a:ext>
            </a:extLst>
          </p:cNvPr>
          <p:cNvGrpSpPr/>
          <p:nvPr/>
        </p:nvGrpSpPr>
        <p:grpSpPr>
          <a:xfrm>
            <a:off x="3190753" y="2141316"/>
            <a:ext cx="5810491" cy="2118168"/>
            <a:chOff x="3190753" y="2141316"/>
            <a:chExt cx="5810491" cy="2118168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D5E6C5D9-66DB-9738-9126-B54EB0828635}"/>
                </a:ext>
              </a:extLst>
            </p:cNvPr>
            <p:cNvSpPr/>
            <p:nvPr/>
          </p:nvSpPr>
          <p:spPr>
            <a:xfrm>
              <a:off x="3190753" y="2141316"/>
              <a:ext cx="5810491" cy="21181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0FAAB5A1-5157-20D5-36FC-DE9C38942586}"/>
                </a:ext>
              </a:extLst>
            </p:cNvPr>
            <p:cNvSpPr txBox="1"/>
            <p:nvPr/>
          </p:nvSpPr>
          <p:spPr>
            <a:xfrm>
              <a:off x="4158992" y="3003223"/>
              <a:ext cx="3874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chemeClr val="accent3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Issue assegnata con successo! </a:t>
              </a:r>
            </a:p>
          </p:txBody>
        </p: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86DD247E-E8A0-02B6-A1B8-BC56A58F2D8D}"/>
                </a:ext>
              </a:extLst>
            </p:cNvPr>
            <p:cNvGrpSpPr/>
            <p:nvPr/>
          </p:nvGrpSpPr>
          <p:grpSpPr>
            <a:xfrm>
              <a:off x="3662680" y="2318824"/>
              <a:ext cx="640080" cy="584775"/>
              <a:chOff x="3657600" y="2393859"/>
              <a:chExt cx="682906" cy="637828"/>
            </a:xfrm>
          </p:grpSpPr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A8F4817C-3E5C-7D5A-008D-DD15F161A99E}"/>
                  </a:ext>
                </a:extLst>
              </p:cNvPr>
              <p:cNvSpPr/>
              <p:nvPr/>
            </p:nvSpPr>
            <p:spPr>
              <a:xfrm>
                <a:off x="3657600" y="2393859"/>
                <a:ext cx="682906" cy="5847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AB3EF244-9CB8-F52E-D4EB-A0B8B99EFE07}"/>
                  </a:ext>
                </a:extLst>
              </p:cNvPr>
              <p:cNvSpPr txBox="1"/>
              <p:nvPr/>
            </p:nvSpPr>
            <p:spPr>
              <a:xfrm>
                <a:off x="3824216" y="2393859"/>
                <a:ext cx="283235" cy="63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>
                    <a:solidFill>
                      <a:schemeClr val="bg1"/>
                    </a:solidFill>
                    <a:latin typeface="Cavolini" panose="03000502040302020204" pitchFamily="66" charset="0"/>
                    <a:cs typeface="Cavolini" panose="03000502040302020204" pitchFamily="66" charset="0"/>
                  </a:rPr>
                  <a:t>i</a:t>
                </a:r>
                <a:endParaRPr lang="it-IT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endParaRPr>
              </a:p>
            </p:txBody>
          </p:sp>
        </p:grp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CD9D109B-B778-DE61-C3E5-F6821AF6DE9C}"/>
                </a:ext>
              </a:extLst>
            </p:cNvPr>
            <p:cNvSpPr/>
            <p:nvPr/>
          </p:nvSpPr>
          <p:spPr>
            <a:xfrm>
              <a:off x="7454095" y="3727439"/>
              <a:ext cx="1226917" cy="4051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192645B6-7FE6-311E-5B13-F343A12F705C}"/>
                </a:ext>
              </a:extLst>
            </p:cNvPr>
            <p:cNvSpPr txBox="1"/>
            <p:nvPr/>
          </p:nvSpPr>
          <p:spPr>
            <a:xfrm>
              <a:off x="7785264" y="3732443"/>
              <a:ext cx="564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Ok</a:t>
              </a:r>
              <a:endParaRPr lang="it-IT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1078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E89D6-95E5-4935-3C5A-40F7B0B1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EE8C22B-D796-42BC-0893-6106D7CF04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88" y="774443"/>
            <a:ext cx="8387623" cy="5309113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65F0290C-14FA-707B-1EDD-4101FD20B1E0}"/>
              </a:ext>
            </a:extLst>
          </p:cNvPr>
          <p:cNvGrpSpPr/>
          <p:nvPr/>
        </p:nvGrpSpPr>
        <p:grpSpPr>
          <a:xfrm>
            <a:off x="3190753" y="2141316"/>
            <a:ext cx="5810491" cy="2118168"/>
            <a:chOff x="3190753" y="2141316"/>
            <a:chExt cx="5810491" cy="2118168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36AB0994-EDF3-D966-A95D-65B1ECA9A394}"/>
                </a:ext>
              </a:extLst>
            </p:cNvPr>
            <p:cNvSpPr/>
            <p:nvPr/>
          </p:nvSpPr>
          <p:spPr>
            <a:xfrm>
              <a:off x="3190753" y="2141316"/>
              <a:ext cx="5810491" cy="21181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CD79BF91-98F5-3989-3573-33788BBFB481}"/>
                </a:ext>
              </a:extLst>
            </p:cNvPr>
            <p:cNvSpPr txBox="1"/>
            <p:nvPr/>
          </p:nvSpPr>
          <p:spPr>
            <a:xfrm>
              <a:off x="4233670" y="2898809"/>
              <a:ext cx="46182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FF0000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Errore: </a:t>
              </a:r>
              <a:r>
                <a:rPr lang="it-IT" b="1" dirty="0">
                  <a:latin typeface="Cavolini" panose="03000502040302020204" pitchFamily="66" charset="0"/>
                  <a:cs typeface="Cavolini" panose="03000502040302020204" pitchFamily="66" charset="0"/>
                </a:rPr>
                <a:t>Selezionare la issue da assegnare e l’utente a cui assegnarla.</a:t>
              </a:r>
              <a:endParaRPr lang="it-IT" b="1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CA09E6F7-5020-9AFE-EC70-3AEA0F163FE7}"/>
                </a:ext>
              </a:extLst>
            </p:cNvPr>
            <p:cNvGrpSpPr/>
            <p:nvPr/>
          </p:nvGrpSpPr>
          <p:grpSpPr>
            <a:xfrm>
              <a:off x="3662680" y="2318824"/>
              <a:ext cx="640080" cy="584775"/>
              <a:chOff x="3657600" y="2393859"/>
              <a:chExt cx="682906" cy="637828"/>
            </a:xfrm>
          </p:grpSpPr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FFDC48CB-262C-825D-F96A-6A1A4BB8F83E}"/>
                  </a:ext>
                </a:extLst>
              </p:cNvPr>
              <p:cNvSpPr/>
              <p:nvPr/>
            </p:nvSpPr>
            <p:spPr>
              <a:xfrm>
                <a:off x="3657600" y="2393859"/>
                <a:ext cx="682906" cy="5847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76A294B4-9DB1-AB3D-D6CC-02F349E8E560}"/>
                  </a:ext>
                </a:extLst>
              </p:cNvPr>
              <p:cNvSpPr txBox="1"/>
              <p:nvPr/>
            </p:nvSpPr>
            <p:spPr>
              <a:xfrm>
                <a:off x="3824216" y="2393859"/>
                <a:ext cx="283235" cy="63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>
                    <a:solidFill>
                      <a:schemeClr val="bg1"/>
                    </a:solidFill>
                    <a:latin typeface="Cavolini" panose="03000502040302020204" pitchFamily="66" charset="0"/>
                    <a:cs typeface="Cavolini" panose="03000502040302020204" pitchFamily="66" charset="0"/>
                  </a:rPr>
                  <a:t>i</a:t>
                </a:r>
                <a:endParaRPr lang="it-IT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endParaRPr>
              </a:p>
            </p:txBody>
          </p:sp>
        </p:grp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2B241818-07A0-261A-F20B-E103885CEB0F}"/>
                </a:ext>
              </a:extLst>
            </p:cNvPr>
            <p:cNvSpPr/>
            <p:nvPr/>
          </p:nvSpPr>
          <p:spPr>
            <a:xfrm>
              <a:off x="7454095" y="3727439"/>
              <a:ext cx="1226917" cy="4051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72B4872B-1CED-EFB1-DA00-564B893F7497}"/>
                </a:ext>
              </a:extLst>
            </p:cNvPr>
            <p:cNvSpPr txBox="1"/>
            <p:nvPr/>
          </p:nvSpPr>
          <p:spPr>
            <a:xfrm>
              <a:off x="7785264" y="3732443"/>
              <a:ext cx="564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Ok</a:t>
              </a:r>
              <a:endParaRPr lang="it-IT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989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67DB-CED0-6C4B-3739-4F65F7BE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0791377-80D1-DFAA-EF16-EF95230197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188" y="774443"/>
            <a:ext cx="8387623" cy="5309113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9D55BF92-670C-ADF0-6401-832A3F418BC3}"/>
              </a:ext>
            </a:extLst>
          </p:cNvPr>
          <p:cNvGrpSpPr/>
          <p:nvPr/>
        </p:nvGrpSpPr>
        <p:grpSpPr>
          <a:xfrm>
            <a:off x="3190753" y="2141316"/>
            <a:ext cx="5810491" cy="2118168"/>
            <a:chOff x="3190753" y="2141316"/>
            <a:chExt cx="5810491" cy="2118168"/>
          </a:xfrm>
        </p:grpSpPr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29CED170-D752-8603-ACCA-0C0EFF4D61C3}"/>
                </a:ext>
              </a:extLst>
            </p:cNvPr>
            <p:cNvSpPr/>
            <p:nvPr/>
          </p:nvSpPr>
          <p:spPr>
            <a:xfrm>
              <a:off x="3190753" y="2141316"/>
              <a:ext cx="5810491" cy="211816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5AD3212B-85B7-F68A-F7A1-8248C8B339D5}"/>
                </a:ext>
              </a:extLst>
            </p:cNvPr>
            <p:cNvSpPr txBox="1"/>
            <p:nvPr/>
          </p:nvSpPr>
          <p:spPr>
            <a:xfrm>
              <a:off x="4233670" y="2783788"/>
              <a:ext cx="46182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FF0000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Errore di rete: </a:t>
              </a:r>
              <a:r>
                <a:rPr lang="it-IT" b="1" dirty="0">
                  <a:latin typeface="Cavolini" panose="03000502040302020204" pitchFamily="66" charset="0"/>
                  <a:cs typeface="Cavolini" panose="03000502040302020204" pitchFamily="66" charset="0"/>
                </a:rPr>
                <a:t>Impossibile connettersi al Server. Issue non assegnata, riprova.</a:t>
              </a:r>
              <a:endParaRPr lang="it-IT" b="1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  <p:grpSp>
          <p:nvGrpSpPr>
            <p:cNvPr id="20" name="Gruppo 19">
              <a:extLst>
                <a:ext uri="{FF2B5EF4-FFF2-40B4-BE49-F238E27FC236}">
                  <a16:creationId xmlns:a16="http://schemas.microsoft.com/office/drawing/2014/main" id="{C4B1D6D0-6D66-55B7-DA51-41CF7C62E82E}"/>
                </a:ext>
              </a:extLst>
            </p:cNvPr>
            <p:cNvGrpSpPr/>
            <p:nvPr/>
          </p:nvGrpSpPr>
          <p:grpSpPr>
            <a:xfrm>
              <a:off x="3662680" y="2318824"/>
              <a:ext cx="640080" cy="584775"/>
              <a:chOff x="3657600" y="2393859"/>
              <a:chExt cx="682906" cy="637828"/>
            </a:xfrm>
          </p:grpSpPr>
          <p:sp>
            <p:nvSpPr>
              <p:cNvPr id="23" name="Ovale 22">
                <a:extLst>
                  <a:ext uri="{FF2B5EF4-FFF2-40B4-BE49-F238E27FC236}">
                    <a16:creationId xmlns:a16="http://schemas.microsoft.com/office/drawing/2014/main" id="{1B968DEC-98A3-4761-A937-9C5349D0E27E}"/>
                  </a:ext>
                </a:extLst>
              </p:cNvPr>
              <p:cNvSpPr/>
              <p:nvPr/>
            </p:nvSpPr>
            <p:spPr>
              <a:xfrm>
                <a:off x="3657600" y="2393859"/>
                <a:ext cx="682906" cy="58477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0651040F-0DB3-FA57-7245-9A2EF9E273EA}"/>
                  </a:ext>
                </a:extLst>
              </p:cNvPr>
              <p:cNvSpPr txBox="1"/>
              <p:nvPr/>
            </p:nvSpPr>
            <p:spPr>
              <a:xfrm>
                <a:off x="3824216" y="2393859"/>
                <a:ext cx="283235" cy="63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>
                    <a:solidFill>
                      <a:schemeClr val="bg1"/>
                    </a:solidFill>
                    <a:latin typeface="Cavolini" panose="03000502040302020204" pitchFamily="66" charset="0"/>
                    <a:cs typeface="Cavolini" panose="03000502040302020204" pitchFamily="66" charset="0"/>
                  </a:rPr>
                  <a:t>i</a:t>
                </a:r>
                <a:endParaRPr lang="it-IT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endParaRPr>
              </a:p>
            </p:txBody>
          </p:sp>
        </p:grp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C53955EA-7208-E7B4-1103-556961ECFDFB}"/>
                </a:ext>
              </a:extLst>
            </p:cNvPr>
            <p:cNvSpPr/>
            <p:nvPr/>
          </p:nvSpPr>
          <p:spPr>
            <a:xfrm>
              <a:off x="7454095" y="3727439"/>
              <a:ext cx="1226917" cy="40511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034E028A-ECFE-EB77-76F2-924937777FB7}"/>
                </a:ext>
              </a:extLst>
            </p:cNvPr>
            <p:cNvSpPr txBox="1"/>
            <p:nvPr/>
          </p:nvSpPr>
          <p:spPr>
            <a:xfrm>
              <a:off x="7785264" y="3732443"/>
              <a:ext cx="5645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b="1" dirty="0">
                  <a:solidFill>
                    <a:schemeClr val="bg1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Ok</a:t>
              </a:r>
              <a:endParaRPr lang="it-IT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8878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129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Cavolini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Montuori</dc:creator>
  <cp:lastModifiedBy>Manuel Montuori</cp:lastModifiedBy>
  <cp:revision>2</cp:revision>
  <dcterms:created xsi:type="dcterms:W3CDTF">2026-07-10T09:23:26Z</dcterms:created>
  <dcterms:modified xsi:type="dcterms:W3CDTF">2026-07-10T11:58:23Z</dcterms:modified>
</cp:coreProperties>
</file>